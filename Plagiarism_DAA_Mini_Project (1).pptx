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68" r:id="rId15"/>
    <p:sldId id="269" r:id="rId16"/>
    <p:sldId id="270" r:id="rId17"/>
  </p:sldIdLst>
  <p:sldSz cx="18288000" cy="10287000"/>
  <p:notesSz cx="6858000" cy="9144000"/>
  <p:embeddedFontLst>
    <p:embeddedFont>
      <p:font typeface="Anantason" panose="020B0604020202020204" charset="-34"/>
      <p:regular r:id="rId18"/>
    </p:embeddedFont>
    <p:embeddedFont>
      <p:font typeface="Anantason Bold" panose="020B0604020202020204" charset="-34"/>
      <p:regular r:id="rId19"/>
    </p:embeddedFont>
    <p:embeddedFont>
      <p:font typeface="Canva Sans" panose="020B0604020202020204" charset="0"/>
      <p:regular r:id="rId20"/>
    </p:embeddedFont>
    <p:embeddedFont>
      <p:font typeface="Canva Sans Bold" panose="020B0604020202020204" charset="0"/>
      <p:regular r:id="rId21"/>
    </p:embeddedFont>
    <p:embeddedFont>
      <p:font typeface="Clou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581" y="2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496979" y="0"/>
            <a:ext cx="1791021" cy="2009398"/>
          </a:xfrm>
          <a:custGeom>
            <a:avLst/>
            <a:gdLst/>
            <a:ahLst/>
            <a:cxnLst/>
            <a:rect l="l" t="t" r="r" b="b"/>
            <a:pathLst>
              <a:path w="1791021" h="2009398">
                <a:moveTo>
                  <a:pt x="0" y="0"/>
                </a:moveTo>
                <a:lnTo>
                  <a:pt x="1791021" y="0"/>
                </a:lnTo>
                <a:lnTo>
                  <a:pt x="1791021" y="2009398"/>
                </a:lnTo>
                <a:lnTo>
                  <a:pt x="0" y="20093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033" t="-790" r="-1277" b="-88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748" y="10312"/>
            <a:ext cx="1949703" cy="2139651"/>
          </a:xfrm>
          <a:custGeom>
            <a:avLst/>
            <a:gdLst/>
            <a:ahLst/>
            <a:cxnLst/>
            <a:rect l="l" t="t" r="r" b="b"/>
            <a:pathLst>
              <a:path w="1949703" h="2139651">
                <a:moveTo>
                  <a:pt x="0" y="0"/>
                </a:moveTo>
                <a:lnTo>
                  <a:pt x="1949702" y="0"/>
                </a:lnTo>
                <a:lnTo>
                  <a:pt x="1949702" y="2139650"/>
                </a:lnTo>
                <a:lnTo>
                  <a:pt x="0" y="21396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360" r="-936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791025" y="3454887"/>
            <a:ext cx="5853684" cy="506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0"/>
              </a:lnSpc>
            </a:pPr>
            <a:r>
              <a:rPr lang="en-US" sz="2950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Mini Project 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7953" y="7224294"/>
            <a:ext cx="4267204" cy="241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11"/>
              </a:lnSpc>
            </a:pPr>
            <a:r>
              <a:rPr lang="en-US" sz="3365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Presented by :</a:t>
            </a:r>
          </a:p>
          <a:p>
            <a:pPr algn="l">
              <a:lnSpc>
                <a:spcPts val="4711"/>
              </a:lnSpc>
            </a:pPr>
            <a:r>
              <a:rPr lang="en-US" sz="3365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Het Patel </a:t>
            </a:r>
          </a:p>
          <a:p>
            <a:pPr algn="l">
              <a:lnSpc>
                <a:spcPts val="4711"/>
              </a:lnSpc>
            </a:pPr>
            <a:r>
              <a:rPr lang="en-US" sz="3365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IT – A </a:t>
            </a:r>
          </a:p>
          <a:p>
            <a:pPr algn="l">
              <a:lnSpc>
                <a:spcPts val="4711"/>
              </a:lnSpc>
            </a:pPr>
            <a:r>
              <a:rPr lang="en-US" sz="3365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1C8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44732" y="60579"/>
            <a:ext cx="13342205" cy="70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9"/>
              </a:lnSpc>
              <a:spcBef>
                <a:spcPct val="0"/>
              </a:spcBef>
            </a:pPr>
            <a:r>
              <a:rPr lang="en-US" sz="4178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A D PATEL INSTITUTE OF TECHNOLOGY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73814" y="739107"/>
            <a:ext cx="9011216" cy="889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3"/>
              </a:lnSpc>
            </a:pPr>
            <a:r>
              <a:rPr lang="en-US" sz="2552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CHARUTAR VIDHYAMANDAL UNIVERSITY</a:t>
            </a:r>
          </a:p>
          <a:p>
            <a:pPr algn="ctr">
              <a:lnSpc>
                <a:spcPts val="3573"/>
              </a:lnSpc>
              <a:spcBef>
                <a:spcPct val="0"/>
              </a:spcBef>
            </a:pPr>
            <a:r>
              <a:rPr lang="en-US" sz="2552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DEPT. OF INFORMATION TECHNOLOGY ENG. A.Y.:2025-2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95156" y="1609904"/>
            <a:ext cx="9360818" cy="399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 and Analysis of Algorithms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9" y="2130912"/>
            <a:ext cx="18713677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-341003" y="4451085"/>
            <a:ext cx="3546261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3270510" y="4142824"/>
            <a:ext cx="12183802" cy="58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3"/>
              </a:lnSpc>
            </a:pPr>
            <a:r>
              <a:rPr lang="en-US" sz="5200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PLAGIARISM DETECTION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5454415" y="4470135"/>
            <a:ext cx="3546261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2344732" y="7827022"/>
            <a:ext cx="4239227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11"/>
              </a:lnSpc>
            </a:pPr>
            <a:r>
              <a:rPr lang="en-US" sz="3365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(12402080601043)</a:t>
            </a:r>
          </a:p>
        </p:txBody>
      </p:sp>
      <p:sp>
        <p:nvSpPr>
          <p:cNvPr id="195" name="Subtitle 195"/>
          <p:cNvSpPr txBox="1"/>
          <p:nvPr/>
        </p:nvSpPr>
        <p:spPr>
          <a:xfrm>
            <a:off x="3000000" y="5000000"/>
            <a:ext cx="12288000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Using String Matching:  Naive  •  KMP  •  Rabin-Karp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59995" y="0"/>
            <a:ext cx="1728005" cy="1938698"/>
          </a:xfrm>
          <a:custGeom>
            <a:avLst/>
            <a:gdLst/>
            <a:ahLst/>
            <a:cxnLst/>
            <a:rect l="l" t="t" r="r" b="b"/>
            <a:pathLst>
              <a:path w="1728005" h="1938698">
                <a:moveTo>
                  <a:pt x="0" y="0"/>
                </a:moveTo>
                <a:lnTo>
                  <a:pt x="1728005" y="0"/>
                </a:lnTo>
                <a:lnTo>
                  <a:pt x="1728005" y="1938698"/>
                </a:lnTo>
                <a:lnTo>
                  <a:pt x="0" y="19386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033" t="-790" r="-1277" b="-88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748" y="10312"/>
            <a:ext cx="1874725" cy="2057369"/>
          </a:xfrm>
          <a:custGeom>
            <a:avLst/>
            <a:gdLst/>
            <a:ahLst/>
            <a:cxnLst/>
            <a:rect l="l" t="t" r="r" b="b"/>
            <a:pathLst>
              <a:path w="1874725" h="2057369">
                <a:moveTo>
                  <a:pt x="0" y="0"/>
                </a:moveTo>
                <a:lnTo>
                  <a:pt x="1874725" y="0"/>
                </a:lnTo>
                <a:lnTo>
                  <a:pt x="1874725" y="2057368"/>
                </a:lnTo>
                <a:lnTo>
                  <a:pt x="0" y="20573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360" r="-936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44732" y="60579"/>
            <a:ext cx="13342205" cy="70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9"/>
              </a:lnSpc>
              <a:spcBef>
                <a:spcPct val="0"/>
              </a:spcBef>
            </a:pPr>
            <a:r>
              <a:rPr lang="en-US" sz="4178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A D PATEL INSTITUTE OF TECHNOLOGY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70820" y="627848"/>
            <a:ext cx="9610434" cy="839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CHARUTAR VIDHYAMANDAL UNIVERSITY</a:t>
            </a:r>
          </a:p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DEPT. OF INFORMATION TECHNOLOGY ENG. A.Y.:2025-26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8727" y="2048630"/>
            <a:ext cx="18713677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-1470591" y="7416499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1" name="Title 101"/>
          <p:cNvSpPr txBox="1"/>
          <p:nvPr/>
        </p:nvSpPr>
        <p:spPr>
          <a:xfrm>
            <a:off x="900000" y="2330000"/>
            <a:ext cx="16488000" cy="10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u="sng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INDEX</a:t>
            </a:r>
          </a:p>
        </p:txBody>
      </p:sp>
      <p:sp>
        <p:nvSpPr>
          <p:cNvPr id="102" name="Index items 102"/>
          <p:cNvSpPr txBox="1"/>
          <p:nvPr/>
        </p:nvSpPr>
        <p:spPr>
          <a:xfrm>
            <a:off x="1500000" y="3600000"/>
            <a:ext cx="6600000" cy="5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1.  INTRODUCTION</a:t>
            </a:r>
          </a:p>
          <a:p>
            <a:pPr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2.  PROBLEM STATEMENT</a:t>
            </a:r>
          </a:p>
          <a:p>
            <a:pPr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3.  ALGORITHMS USED</a:t>
            </a:r>
          </a:p>
          <a:p>
            <a:pPr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4.  SYSTEM WORKFLOW</a:t>
            </a:r>
          </a:p>
          <a:p>
            <a:pPr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5.  FEATURES</a:t>
            </a:r>
          </a:p>
          <a:p>
            <a:pPr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6.  COMPLEXITY ANALYSIS</a:t>
            </a:r>
          </a:p>
          <a:p>
            <a:pPr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7.  KEY FUNCTIONS</a:t>
            </a:r>
          </a:p>
        </p:txBody>
      </p:sp>
      <p:sp>
        <p:nvSpPr>
          <p:cNvPr id="103" name="Index pages 103"/>
          <p:cNvSpPr txBox="1"/>
          <p:nvPr/>
        </p:nvSpPr>
        <p:spPr>
          <a:xfrm>
            <a:off x="7700000" y="3600000"/>
            <a:ext cx="1000000" cy="5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3</a:t>
            </a:r>
          </a:p>
          <a:p>
            <a:pPr algn="r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4</a:t>
            </a:r>
          </a:p>
          <a:p>
            <a:pPr algn="r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5</a:t>
            </a:r>
          </a:p>
          <a:p>
            <a:pPr algn="r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6</a:t>
            </a:r>
          </a:p>
          <a:p>
            <a:pPr algn="r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7</a:t>
            </a:r>
          </a:p>
          <a:p>
            <a:pPr algn="r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8</a:t>
            </a:r>
          </a:p>
          <a:p>
            <a:pPr algn="r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9</a:t>
            </a:r>
          </a:p>
        </p:txBody>
      </p:sp>
      <p:sp>
        <p:nvSpPr>
          <p:cNvPr id="104" name="Index items 104"/>
          <p:cNvSpPr txBox="1"/>
          <p:nvPr/>
        </p:nvSpPr>
        <p:spPr>
          <a:xfrm>
            <a:off x="9900000" y="3600000"/>
            <a:ext cx="6600000" cy="5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8.  SAMPLE OUTPUT</a:t>
            </a:r>
          </a:p>
          <a:p>
            <a:pPr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9.  EXPERIMENTAL RESULTS</a:t>
            </a:r>
          </a:p>
          <a:p>
            <a:pPr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10.  OBSERVATIONS</a:t>
            </a:r>
          </a:p>
          <a:p>
            <a:pPr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11.  FUTURE SCOPE</a:t>
            </a:r>
          </a:p>
          <a:p>
            <a:pPr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12.  CONCLUSION</a:t>
            </a:r>
          </a:p>
          <a:p>
            <a:pPr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13.  REFERENCES</a:t>
            </a:r>
          </a:p>
          <a:p>
            <a:pPr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14.  THANK YOU</a:t>
            </a:r>
          </a:p>
        </p:txBody>
      </p:sp>
      <p:sp>
        <p:nvSpPr>
          <p:cNvPr id="105" name="Index pages 105"/>
          <p:cNvSpPr txBox="1"/>
          <p:nvPr/>
        </p:nvSpPr>
        <p:spPr>
          <a:xfrm>
            <a:off x="16100000" y="3600000"/>
            <a:ext cx="1000000" cy="5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10</a:t>
            </a:r>
          </a:p>
          <a:p>
            <a:pPr algn="r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11</a:t>
            </a:r>
          </a:p>
          <a:p>
            <a:pPr algn="r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12</a:t>
            </a:r>
          </a:p>
          <a:p>
            <a:pPr algn="r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13</a:t>
            </a:r>
          </a:p>
          <a:p>
            <a:pPr algn="r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14</a:t>
            </a:r>
          </a:p>
          <a:p>
            <a:pPr algn="r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15</a:t>
            </a:r>
          </a:p>
          <a:p>
            <a:pPr algn="r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16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C9A5CF-8712-24BC-D9B6-9B21E7918ABB}"/>
              </a:ext>
            </a:extLst>
          </p:cNvPr>
          <p:cNvSpPr txBox="1"/>
          <p:nvPr/>
        </p:nvSpPr>
        <p:spPr>
          <a:xfrm>
            <a:off x="6324600" y="1467029"/>
            <a:ext cx="5333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 and Analysis of Algorithms</a:t>
            </a:r>
          </a:p>
          <a:p>
            <a:endParaRPr lang="en-I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59995" y="0"/>
            <a:ext cx="1728005" cy="1938698"/>
          </a:xfrm>
          <a:custGeom>
            <a:avLst/>
            <a:gdLst/>
            <a:ahLst/>
            <a:cxnLst/>
            <a:rect l="l" t="t" r="r" b="b"/>
            <a:pathLst>
              <a:path w="1728005" h="1938698">
                <a:moveTo>
                  <a:pt x="0" y="0"/>
                </a:moveTo>
                <a:lnTo>
                  <a:pt x="1728005" y="0"/>
                </a:lnTo>
                <a:lnTo>
                  <a:pt x="1728005" y="1938698"/>
                </a:lnTo>
                <a:lnTo>
                  <a:pt x="0" y="19386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033" t="-790" r="-1277" b="-88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748" y="10312"/>
            <a:ext cx="1874725" cy="2057369"/>
          </a:xfrm>
          <a:custGeom>
            <a:avLst/>
            <a:gdLst/>
            <a:ahLst/>
            <a:cxnLst/>
            <a:rect l="l" t="t" r="r" b="b"/>
            <a:pathLst>
              <a:path w="1874725" h="2057369">
                <a:moveTo>
                  <a:pt x="0" y="0"/>
                </a:moveTo>
                <a:lnTo>
                  <a:pt x="1874725" y="0"/>
                </a:lnTo>
                <a:lnTo>
                  <a:pt x="1874725" y="2057368"/>
                </a:lnTo>
                <a:lnTo>
                  <a:pt x="0" y="20573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360" r="-936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44732" y="60579"/>
            <a:ext cx="13342205" cy="70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9"/>
              </a:lnSpc>
              <a:spcBef>
                <a:spcPct val="0"/>
              </a:spcBef>
            </a:pPr>
            <a:r>
              <a:rPr lang="en-US" sz="4178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A D PATEL INSTITUTE OF TECHNOLOGY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58485" y="675382"/>
            <a:ext cx="8571029" cy="839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CHARUTAR VIDHYAMANDAL UNIVERSITY</a:t>
            </a:r>
          </a:p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DEPT. OF INFORMATION TECHNOLOGY ENG. A.Y.:2025-2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8727" y="2048630"/>
            <a:ext cx="18713677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-1470591" y="7416499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6" name="Title 106"/>
          <p:cNvSpPr txBox="1"/>
          <p:nvPr/>
        </p:nvSpPr>
        <p:spPr>
          <a:xfrm>
            <a:off x="900000" y="2330000"/>
            <a:ext cx="16488000" cy="10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u="sng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INTRODUCTION</a:t>
            </a:r>
          </a:p>
        </p:txBody>
      </p:sp>
      <p:sp>
        <p:nvSpPr>
          <p:cNvPr id="107" name="Body 107"/>
          <p:cNvSpPr txBox="1"/>
          <p:nvPr/>
        </p:nvSpPr>
        <p:spPr>
          <a:xfrm>
            <a:off x="1500000" y="3800000"/>
            <a:ext cx="15300000" cy="5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520000" indent="-520000" algn="l">
              <a:lnSpc>
                <a:spcPts val="4400"/>
              </a:lnSpc>
              <a:spcBef>
                <a:spcPts val="0"/>
              </a:spcBef>
              <a:spcAft>
                <a:spcPts val="18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Plagiarism means presenting someone else's words as your own without giving credit.</a:t>
            </a:r>
          </a:p>
          <a:p>
            <a:pPr marL="520000" indent="-520000" algn="l">
              <a:lnSpc>
                <a:spcPts val="4400"/>
              </a:lnSpc>
              <a:spcBef>
                <a:spcPts val="0"/>
              </a:spcBef>
              <a:spcAft>
                <a:spcPts val="18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This DAA mini project detects it using three string matching algorithms: Naive, KMP and Rabin-Karp.</a:t>
            </a:r>
          </a:p>
          <a:p>
            <a:pPr marL="520000" indent="-520000" algn="l">
              <a:lnSpc>
                <a:spcPts val="4400"/>
              </a:lnSpc>
              <a:spcBef>
                <a:spcPts val="0"/>
              </a:spcBef>
              <a:spcAft>
                <a:spcPts val="18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The suspect document is split into 5-word chunks, and each chunk is searched in the original document.</a:t>
            </a:r>
          </a:p>
          <a:p>
            <a:pPr marL="520000" indent="-520000" algn="l">
              <a:lnSpc>
                <a:spcPts val="4400"/>
              </a:lnSpc>
              <a:spcBef>
                <a:spcPts val="0"/>
              </a:spcBef>
              <a:spcAft>
                <a:spcPts val="18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Similarity is the percentage of chunks found, and the algorithms are compared on time and comparisons.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E81133-1667-2C7E-711D-DDC7AC136DF4}"/>
              </a:ext>
            </a:extLst>
          </p:cNvPr>
          <p:cNvSpPr txBox="1"/>
          <p:nvPr/>
        </p:nvSpPr>
        <p:spPr>
          <a:xfrm>
            <a:off x="6084958" y="1491372"/>
            <a:ext cx="5205271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 and Analysis of Algorithms</a:t>
            </a:r>
          </a:p>
          <a:p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59995" y="0"/>
            <a:ext cx="1728005" cy="1938698"/>
          </a:xfrm>
          <a:custGeom>
            <a:avLst/>
            <a:gdLst/>
            <a:ahLst/>
            <a:cxnLst/>
            <a:rect l="l" t="t" r="r" b="b"/>
            <a:pathLst>
              <a:path w="1728005" h="1938698">
                <a:moveTo>
                  <a:pt x="0" y="0"/>
                </a:moveTo>
                <a:lnTo>
                  <a:pt x="1728005" y="0"/>
                </a:lnTo>
                <a:lnTo>
                  <a:pt x="1728005" y="1938698"/>
                </a:lnTo>
                <a:lnTo>
                  <a:pt x="0" y="19386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033" t="-790" r="-1277" b="-88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748" y="10312"/>
            <a:ext cx="1874725" cy="2057369"/>
          </a:xfrm>
          <a:custGeom>
            <a:avLst/>
            <a:gdLst/>
            <a:ahLst/>
            <a:cxnLst/>
            <a:rect l="l" t="t" r="r" b="b"/>
            <a:pathLst>
              <a:path w="1874725" h="2057369">
                <a:moveTo>
                  <a:pt x="0" y="0"/>
                </a:moveTo>
                <a:lnTo>
                  <a:pt x="1874725" y="0"/>
                </a:lnTo>
                <a:lnTo>
                  <a:pt x="1874725" y="2057368"/>
                </a:lnTo>
                <a:lnTo>
                  <a:pt x="0" y="20573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360" r="-936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44732" y="60579"/>
            <a:ext cx="13342205" cy="70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9"/>
              </a:lnSpc>
              <a:spcBef>
                <a:spcPct val="0"/>
              </a:spcBef>
            </a:pPr>
            <a:r>
              <a:rPr lang="en-US" sz="4178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A D PATEL INSTITUTE OF TECHNOLOGY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70820" y="627848"/>
            <a:ext cx="8821380" cy="839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CHARUTAR VIDHYAMANDAL UNIVERSITY</a:t>
            </a:r>
          </a:p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DEPT. OF INFORMATION TECHNOLOGY ENG. A.Y.:2025-26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75926" y="1428929"/>
            <a:ext cx="9360818" cy="399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 and Analysis of Algorithms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8727" y="2048630"/>
            <a:ext cx="18713677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-1470591" y="7416499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8" name="Title 108"/>
          <p:cNvSpPr txBox="1"/>
          <p:nvPr/>
        </p:nvSpPr>
        <p:spPr>
          <a:xfrm>
            <a:off x="900000" y="2330000"/>
            <a:ext cx="16488000" cy="10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u="sng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PROBLEM STATEMENT</a:t>
            </a:r>
          </a:p>
        </p:txBody>
      </p:sp>
      <p:sp>
        <p:nvSpPr>
          <p:cNvPr id="109" name="Body 109"/>
          <p:cNvSpPr txBox="1"/>
          <p:nvPr/>
        </p:nvSpPr>
        <p:spPr>
          <a:xfrm>
            <a:off x="1500000" y="3900000"/>
            <a:ext cx="9300000" cy="5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520000" indent="-520000" algn="l">
              <a:lnSpc>
                <a:spcPts val="3800"/>
              </a:lnSpc>
              <a:spcBef>
                <a:spcPts val="0"/>
              </a:spcBef>
              <a:spcAft>
                <a:spcPts val="16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Reading two documents side by side is slow and unreliable, especially for long texts.</a:t>
            </a:r>
          </a:p>
          <a:p>
            <a:pPr marL="520000" indent="-520000" algn="l">
              <a:lnSpc>
                <a:spcPts val="3800"/>
              </a:lnSpc>
              <a:spcBef>
                <a:spcPts val="0"/>
              </a:spcBef>
              <a:spcAft>
                <a:spcPts val="16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Given an original text and a suspect text, the task is to find which parts of the suspect are copied.</a:t>
            </a:r>
          </a:p>
          <a:p>
            <a:pPr marL="520000" indent="-520000" algn="l">
              <a:lnSpc>
                <a:spcPts val="3800"/>
              </a:lnSpc>
              <a:spcBef>
                <a:spcPts val="0"/>
              </a:spcBef>
              <a:spcAft>
                <a:spcPts val="16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The project also asks how the running time and character comparisons of each algorithm change as input grows.</a:t>
            </a:r>
          </a:p>
        </p:txBody>
      </p:sp>
      <p:sp>
        <p:nvSpPr>
          <p:cNvPr id="110" name="Formula card 110"/>
          <p:cNvSpPr/>
          <p:nvPr/>
        </p:nvSpPr>
        <p:spPr>
          <a:xfrm>
            <a:off x="11500000" y="4200000"/>
            <a:ext cx="5400000" cy="4600000"/>
          </a:xfrm>
          <a:prstGeom prst="roundRect">
            <a:avLst>
              <a:gd name="adj" fmla="val 6000"/>
            </a:avLst>
          </a:prstGeom>
          <a:solidFill>
            <a:srgbClr val="0C3571"/>
          </a:solidFill>
          <a:ln>
            <a:noFill/>
          </a:ln>
          <a:effectLst>
            <a:outerShdw blurRad="152400" dist="50800" dir="5400000" algn="t" rotWithShape="0">
              <a:srgbClr val="0C3571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Formula head 111"/>
          <p:cNvSpPr txBox="1"/>
          <p:nvPr/>
        </p:nvSpPr>
        <p:spPr>
          <a:xfrm>
            <a:off x="11900000" y="4550000"/>
            <a:ext cx="4600000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Core Idea</a:t>
            </a:r>
          </a:p>
        </p:txBody>
      </p:sp>
      <p:sp>
        <p:nvSpPr>
          <p:cNvPr id="112" name="Formula box 112"/>
          <p:cNvSpPr/>
          <p:nvPr/>
        </p:nvSpPr>
        <p:spPr>
          <a:xfrm>
            <a:off x="11900000" y="5450000"/>
            <a:ext cx="4600000" cy="19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Split + Search</a:t>
            </a:r>
          </a:p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————————</a:t>
            </a:r>
          </a:p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Count + Verdict</a:t>
            </a:r>
          </a:p>
        </p:txBody>
      </p:sp>
      <p:sp>
        <p:nvSpPr>
          <p:cNvPr id="113" name="Formula note 113"/>
          <p:cNvSpPr txBox="1"/>
          <p:nvPr/>
        </p:nvSpPr>
        <p:spPr>
          <a:xfrm>
            <a:off x="11900000" y="7600000"/>
            <a:ext cx="4600000" cy="11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Similarity % = matched chunks / total chunks.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59995" y="0"/>
            <a:ext cx="1728005" cy="1938698"/>
          </a:xfrm>
          <a:custGeom>
            <a:avLst/>
            <a:gdLst/>
            <a:ahLst/>
            <a:cxnLst/>
            <a:rect l="l" t="t" r="r" b="b"/>
            <a:pathLst>
              <a:path w="1728005" h="1938698">
                <a:moveTo>
                  <a:pt x="0" y="0"/>
                </a:moveTo>
                <a:lnTo>
                  <a:pt x="1728005" y="0"/>
                </a:lnTo>
                <a:lnTo>
                  <a:pt x="1728005" y="1938698"/>
                </a:lnTo>
                <a:lnTo>
                  <a:pt x="0" y="19386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033" t="-790" r="-1277" b="-88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748" y="10312"/>
            <a:ext cx="1874725" cy="2057369"/>
          </a:xfrm>
          <a:custGeom>
            <a:avLst/>
            <a:gdLst/>
            <a:ahLst/>
            <a:cxnLst/>
            <a:rect l="l" t="t" r="r" b="b"/>
            <a:pathLst>
              <a:path w="1874725" h="2057369">
                <a:moveTo>
                  <a:pt x="0" y="0"/>
                </a:moveTo>
                <a:lnTo>
                  <a:pt x="1874725" y="0"/>
                </a:lnTo>
                <a:lnTo>
                  <a:pt x="1874725" y="2057368"/>
                </a:lnTo>
                <a:lnTo>
                  <a:pt x="0" y="20573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360" r="-936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44732" y="60579"/>
            <a:ext cx="13342205" cy="70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9"/>
              </a:lnSpc>
              <a:spcBef>
                <a:spcPct val="0"/>
              </a:spcBef>
            </a:pPr>
            <a:r>
              <a:rPr lang="en-US" sz="4178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A D PATEL INSTITUTE OF TECHNOLOGY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70820" y="627848"/>
            <a:ext cx="8821380" cy="839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CHARUTAR VIDHYAMANDAL UNIVERSITY</a:t>
            </a:r>
          </a:p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DEPT. OF INFORMATION TECHNOLOGY ENG. A.Y.:2025-26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75926" y="1428929"/>
            <a:ext cx="9360818" cy="399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 and Analysis of Algorithms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8727" y="2048630"/>
            <a:ext cx="18713677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-1470591" y="7416499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4" name="Title 114"/>
          <p:cNvSpPr txBox="1"/>
          <p:nvPr/>
        </p:nvSpPr>
        <p:spPr>
          <a:xfrm>
            <a:off x="900000" y="2330000"/>
            <a:ext cx="16488000" cy="10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u="sng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ALGORITHMS USED</a:t>
            </a:r>
          </a:p>
        </p:txBody>
      </p:sp>
      <p:sp>
        <p:nvSpPr>
          <p:cNvPr id="115" name="Type card 115"/>
          <p:cNvSpPr/>
          <p:nvPr/>
        </p:nvSpPr>
        <p:spPr>
          <a:xfrm>
            <a:off x="1200000" y="3750000"/>
            <a:ext cx="7500000" cy="50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52400" dist="50800" dir="5400000" algn="t" rotWithShape="0">
              <a:srgbClr val="0C3571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6" name="Type head 116"/>
          <p:cNvSpPr/>
          <p:nvPr/>
        </p:nvSpPr>
        <p:spPr>
          <a:xfrm>
            <a:off x="1650000" y="4100000"/>
            <a:ext cx="6600000" cy="800000"/>
          </a:xfrm>
          <a:prstGeom prst="roundRect">
            <a:avLst>
              <a:gd name="adj" fmla="val 50000"/>
            </a:avLst>
          </a:prstGeom>
          <a:solidFill>
            <a:srgbClr val="0C357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ALGORITHMS</a:t>
            </a:r>
          </a:p>
        </p:txBody>
      </p:sp>
      <p:sp>
        <p:nvSpPr>
          <p:cNvPr id="117" name="Type items 117"/>
          <p:cNvSpPr txBox="1"/>
          <p:nvPr/>
        </p:nvSpPr>
        <p:spPr>
          <a:xfrm>
            <a:off x="1800000" y="5200000"/>
            <a:ext cx="6300000" cy="40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520000" indent="-520000" algn="l">
              <a:lnSpc>
                <a:spcPts val="3600"/>
              </a:lnSpc>
              <a:spcBef>
                <a:spcPts val="0"/>
              </a:spcBef>
              <a:spcAft>
                <a:spcPts val="7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Naive (brute force) search</a:t>
            </a:r>
          </a:p>
          <a:p>
            <a:pPr marL="520000" indent="-520000" algn="l">
              <a:lnSpc>
                <a:spcPts val="3600"/>
              </a:lnSpc>
              <a:spcBef>
                <a:spcPts val="0"/>
              </a:spcBef>
              <a:spcAft>
                <a:spcPts val="7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KMP with LPS table</a:t>
            </a:r>
          </a:p>
          <a:p>
            <a:pPr marL="520000" indent="-520000" algn="l">
              <a:lnSpc>
                <a:spcPts val="3600"/>
              </a:lnSpc>
              <a:spcBef>
                <a:spcPts val="0"/>
              </a:spcBef>
              <a:spcAft>
                <a:spcPts val="7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Rabin-Karp rolling hash</a:t>
            </a:r>
          </a:p>
          <a:p>
            <a:pPr marL="520000" indent="-520000" algn="l">
              <a:lnSpc>
                <a:spcPts val="3600"/>
              </a:lnSpc>
              <a:spcBef>
                <a:spcPts val="0"/>
              </a:spcBef>
              <a:spcAft>
                <a:spcPts val="7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Comparison counting</a:t>
            </a:r>
          </a:p>
          <a:p>
            <a:pPr marL="520000" indent="-520000" algn="l">
              <a:lnSpc>
                <a:spcPts val="3600"/>
              </a:lnSpc>
              <a:spcBef>
                <a:spcPts val="0"/>
              </a:spcBef>
              <a:spcAft>
                <a:spcPts val="7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Chunk-based matching</a:t>
            </a:r>
          </a:p>
        </p:txBody>
      </p:sp>
      <p:sp>
        <p:nvSpPr>
          <p:cNvPr id="118" name="Type card 118"/>
          <p:cNvSpPr/>
          <p:nvPr/>
        </p:nvSpPr>
        <p:spPr>
          <a:xfrm>
            <a:off x="9588000" y="3750000"/>
            <a:ext cx="7500000" cy="50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52400" dist="50800" dir="5400000" algn="t" rotWithShape="0">
              <a:srgbClr val="0C3571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9" name="Type head 119"/>
          <p:cNvSpPr/>
          <p:nvPr/>
        </p:nvSpPr>
        <p:spPr>
          <a:xfrm>
            <a:off x="10038000" y="4100000"/>
            <a:ext cx="6600000" cy="800000"/>
          </a:xfrm>
          <a:prstGeom prst="roundRect">
            <a:avLst>
              <a:gd name="adj" fmla="val 50000"/>
            </a:avLst>
          </a:prstGeom>
          <a:solidFill>
            <a:srgbClr val="0C357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TOOLS &amp; MODULES</a:t>
            </a:r>
          </a:p>
        </p:txBody>
      </p:sp>
      <p:sp>
        <p:nvSpPr>
          <p:cNvPr id="120" name="Type items 120"/>
          <p:cNvSpPr txBox="1"/>
          <p:nvPr/>
        </p:nvSpPr>
        <p:spPr>
          <a:xfrm>
            <a:off x="10188000" y="5200000"/>
            <a:ext cx="6300000" cy="40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520000" indent="-520000" algn="l">
              <a:lnSpc>
                <a:spcPts val="3600"/>
              </a:lnSpc>
              <a:spcBef>
                <a:spcPts val="0"/>
              </a:spcBef>
              <a:spcAft>
                <a:spcPts val="7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Python 3</a:t>
            </a:r>
          </a:p>
          <a:p>
            <a:pPr marL="520000" indent="-520000" algn="l">
              <a:lnSpc>
                <a:spcPts val="3600"/>
              </a:lnSpc>
              <a:spcBef>
                <a:spcPts val="0"/>
              </a:spcBef>
              <a:spcAft>
                <a:spcPts val="7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re (text cleaning)</a:t>
            </a:r>
          </a:p>
          <a:p>
            <a:pPr marL="520000" indent="-520000" algn="l">
              <a:lnSpc>
                <a:spcPts val="3600"/>
              </a:lnSpc>
              <a:spcBef>
                <a:spcPts val="0"/>
              </a:spcBef>
              <a:spcAft>
                <a:spcPts val="7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time (perf_counter)</a:t>
            </a:r>
          </a:p>
          <a:p>
            <a:pPr marL="520000" indent="-520000" algn="l">
              <a:lnSpc>
                <a:spcPts val="3600"/>
              </a:lnSpc>
              <a:spcBef>
                <a:spcPts val="0"/>
              </a:spcBef>
              <a:spcAft>
                <a:spcPts val="7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argparse (command line)</a:t>
            </a:r>
          </a:p>
          <a:p>
            <a:pPr marL="520000" indent="-520000" algn="l">
              <a:lnSpc>
                <a:spcPts val="3600"/>
              </a:lnSpc>
              <a:spcBef>
                <a:spcPts val="0"/>
              </a:spcBef>
              <a:spcAft>
                <a:spcPts val="7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matplotlib (graphs)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59995" y="0"/>
            <a:ext cx="1728005" cy="1938698"/>
          </a:xfrm>
          <a:custGeom>
            <a:avLst/>
            <a:gdLst/>
            <a:ahLst/>
            <a:cxnLst/>
            <a:rect l="l" t="t" r="r" b="b"/>
            <a:pathLst>
              <a:path w="1728005" h="1938698">
                <a:moveTo>
                  <a:pt x="0" y="0"/>
                </a:moveTo>
                <a:lnTo>
                  <a:pt x="1728005" y="0"/>
                </a:lnTo>
                <a:lnTo>
                  <a:pt x="1728005" y="1938698"/>
                </a:lnTo>
                <a:lnTo>
                  <a:pt x="0" y="19386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033" t="-790" r="-1277" b="-88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748" y="10312"/>
            <a:ext cx="1874725" cy="2057369"/>
          </a:xfrm>
          <a:custGeom>
            <a:avLst/>
            <a:gdLst/>
            <a:ahLst/>
            <a:cxnLst/>
            <a:rect l="l" t="t" r="r" b="b"/>
            <a:pathLst>
              <a:path w="1874725" h="2057369">
                <a:moveTo>
                  <a:pt x="0" y="0"/>
                </a:moveTo>
                <a:lnTo>
                  <a:pt x="1874725" y="0"/>
                </a:lnTo>
                <a:lnTo>
                  <a:pt x="1874725" y="2057368"/>
                </a:lnTo>
                <a:lnTo>
                  <a:pt x="0" y="20573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360" r="-936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44732" y="60579"/>
            <a:ext cx="13342205" cy="70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9"/>
              </a:lnSpc>
              <a:spcBef>
                <a:spcPct val="0"/>
              </a:spcBef>
            </a:pPr>
            <a:r>
              <a:rPr lang="en-US" sz="4178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A D PATEL INSTITUTE OF TECHNOLOGY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70820" y="627848"/>
            <a:ext cx="8798180" cy="839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CHARUTAR VIDHYAMANDAL UNIVERSITY</a:t>
            </a:r>
          </a:p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DEPT. OF INFORMATION TECHNOLOGY ENG. A.Y.:2025-26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75926" y="1428929"/>
            <a:ext cx="9360818" cy="399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 and Analysis of Algorithms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8727" y="2048630"/>
            <a:ext cx="18713677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-1470591" y="7416499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1" name="Title 121"/>
          <p:cNvSpPr txBox="1"/>
          <p:nvPr/>
        </p:nvSpPr>
        <p:spPr>
          <a:xfrm>
            <a:off x="900000" y="2330000"/>
            <a:ext cx="16488000" cy="10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u="sng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SYSTEM WORKFLOW</a:t>
            </a:r>
          </a:p>
        </p:txBody>
      </p:sp>
      <p:sp>
        <p:nvSpPr>
          <p:cNvPr id="122" name="Cycle card 122"/>
          <p:cNvSpPr/>
          <p:nvPr/>
        </p:nvSpPr>
        <p:spPr>
          <a:xfrm>
            <a:off x="919000" y="3600000"/>
            <a:ext cx="3850000" cy="5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dist="50800" dir="5400000" algn="t" rotWithShape="0">
              <a:srgbClr val="0C3571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3" name="Phase number 123"/>
          <p:cNvSpPr/>
          <p:nvPr/>
        </p:nvSpPr>
        <p:spPr>
          <a:xfrm>
            <a:off x="2294000" y="3900000"/>
            <a:ext cx="1100000" cy="1100000"/>
          </a:xfrm>
          <a:prstGeom prst="ellipse">
            <a:avLst/>
          </a:prstGeom>
          <a:solidFill>
            <a:srgbClr val="0C357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1</a:t>
            </a:r>
          </a:p>
        </p:txBody>
      </p:sp>
      <p:sp>
        <p:nvSpPr>
          <p:cNvPr id="124" name="Phase name 124"/>
          <p:cNvSpPr txBox="1"/>
          <p:nvPr/>
        </p:nvSpPr>
        <p:spPr>
          <a:xfrm>
            <a:off x="1069000" y="5200000"/>
            <a:ext cx="3550000" cy="6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INPUT</a:t>
            </a:r>
          </a:p>
        </p:txBody>
      </p:sp>
      <p:sp>
        <p:nvSpPr>
          <p:cNvPr id="125" name="Phase time 125"/>
          <p:cNvSpPr txBox="1"/>
          <p:nvPr/>
        </p:nvSpPr>
        <p:spPr>
          <a:xfrm>
            <a:off x="1069000" y="5800000"/>
            <a:ext cx="3550000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Two text files</a:t>
            </a:r>
          </a:p>
        </p:txBody>
      </p:sp>
      <p:sp>
        <p:nvSpPr>
          <p:cNvPr id="126" name="Phase desc 126"/>
          <p:cNvSpPr txBox="1"/>
          <p:nvPr/>
        </p:nvSpPr>
        <p:spPr>
          <a:xfrm>
            <a:off x="1169000" y="6450000"/>
            <a:ext cx="3350000" cy="20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The original and suspect documents are read from files.</a:t>
            </a:r>
          </a:p>
        </p:txBody>
      </p:sp>
      <p:sp>
        <p:nvSpPr>
          <p:cNvPr id="127" name="Cycle card 127"/>
          <p:cNvSpPr/>
          <p:nvPr/>
        </p:nvSpPr>
        <p:spPr>
          <a:xfrm>
            <a:off x="5119000" y="3600000"/>
            <a:ext cx="3850000" cy="5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dist="50800" dir="5400000" algn="t" rotWithShape="0">
              <a:srgbClr val="0C3571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8" name="Phase number 128"/>
          <p:cNvSpPr/>
          <p:nvPr/>
        </p:nvSpPr>
        <p:spPr>
          <a:xfrm>
            <a:off x="6494000" y="3900000"/>
            <a:ext cx="1100000" cy="1100000"/>
          </a:xfrm>
          <a:prstGeom prst="ellipse">
            <a:avLst/>
          </a:prstGeom>
          <a:solidFill>
            <a:srgbClr val="1F6FB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2</a:t>
            </a:r>
          </a:p>
        </p:txBody>
      </p:sp>
      <p:sp>
        <p:nvSpPr>
          <p:cNvPr id="129" name="Phase name 129"/>
          <p:cNvSpPr txBox="1"/>
          <p:nvPr/>
        </p:nvSpPr>
        <p:spPr>
          <a:xfrm>
            <a:off x="5269000" y="5200000"/>
            <a:ext cx="3550000" cy="6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CLEAN</a:t>
            </a:r>
          </a:p>
        </p:txBody>
      </p:sp>
      <p:sp>
        <p:nvSpPr>
          <p:cNvPr id="130" name="Phase time 130"/>
          <p:cNvSpPr txBox="1"/>
          <p:nvPr/>
        </p:nvSpPr>
        <p:spPr>
          <a:xfrm>
            <a:off x="5269000" y="5800000"/>
            <a:ext cx="3550000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1F6FB2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Preprocess and chunk</a:t>
            </a:r>
          </a:p>
        </p:txBody>
      </p:sp>
      <p:sp>
        <p:nvSpPr>
          <p:cNvPr id="131" name="Phase desc 131"/>
          <p:cNvSpPr txBox="1"/>
          <p:nvPr/>
        </p:nvSpPr>
        <p:spPr>
          <a:xfrm>
            <a:off x="5369000" y="6450000"/>
            <a:ext cx="3350000" cy="20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Lowercase, remove symbols, split suspect into 5-word chunks.</a:t>
            </a:r>
          </a:p>
        </p:txBody>
      </p:sp>
      <p:sp>
        <p:nvSpPr>
          <p:cNvPr id="132" name="Cycle card 132"/>
          <p:cNvSpPr/>
          <p:nvPr/>
        </p:nvSpPr>
        <p:spPr>
          <a:xfrm>
            <a:off x="9319000" y="3600000"/>
            <a:ext cx="3850000" cy="5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dist="50800" dir="5400000" algn="t" rotWithShape="0">
              <a:srgbClr val="0C3571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3" name="Phase number 133"/>
          <p:cNvSpPr/>
          <p:nvPr/>
        </p:nvSpPr>
        <p:spPr>
          <a:xfrm>
            <a:off x="10694000" y="3900000"/>
            <a:ext cx="1100000" cy="110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3</a:t>
            </a:r>
          </a:p>
        </p:txBody>
      </p:sp>
      <p:sp>
        <p:nvSpPr>
          <p:cNvPr id="134" name="Phase name 134"/>
          <p:cNvSpPr txBox="1"/>
          <p:nvPr/>
        </p:nvSpPr>
        <p:spPr>
          <a:xfrm>
            <a:off x="9469000" y="5200000"/>
            <a:ext cx="3550000" cy="6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SEARCH</a:t>
            </a:r>
          </a:p>
        </p:txBody>
      </p:sp>
      <p:sp>
        <p:nvSpPr>
          <p:cNvPr id="135" name="Phase time 135"/>
          <p:cNvSpPr txBox="1"/>
          <p:nvPr/>
        </p:nvSpPr>
        <p:spPr>
          <a:xfrm>
            <a:off x="9469000" y="5800000"/>
            <a:ext cx="3550000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C0392B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Match each chunk</a:t>
            </a:r>
          </a:p>
        </p:txBody>
      </p:sp>
      <p:sp>
        <p:nvSpPr>
          <p:cNvPr id="136" name="Phase desc 136"/>
          <p:cNvSpPr txBox="1"/>
          <p:nvPr/>
        </p:nvSpPr>
        <p:spPr>
          <a:xfrm>
            <a:off x="9569000" y="6450000"/>
            <a:ext cx="3350000" cy="20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Naive, KMP and Rabin-Karp search every chunk in the original.</a:t>
            </a:r>
          </a:p>
        </p:txBody>
      </p:sp>
      <p:sp>
        <p:nvSpPr>
          <p:cNvPr id="137" name="Cycle card 137"/>
          <p:cNvSpPr/>
          <p:nvPr/>
        </p:nvSpPr>
        <p:spPr>
          <a:xfrm>
            <a:off x="13519000" y="3600000"/>
            <a:ext cx="3850000" cy="5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dist="50800" dir="5400000" algn="t" rotWithShape="0">
              <a:srgbClr val="0C3571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8" name="Phase number 138"/>
          <p:cNvSpPr/>
          <p:nvPr/>
        </p:nvSpPr>
        <p:spPr>
          <a:xfrm>
            <a:off x="14894000" y="3900000"/>
            <a:ext cx="1100000" cy="11000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4</a:t>
            </a:r>
          </a:p>
        </p:txBody>
      </p:sp>
      <p:sp>
        <p:nvSpPr>
          <p:cNvPr id="139" name="Phase name 139"/>
          <p:cNvSpPr txBox="1"/>
          <p:nvPr/>
        </p:nvSpPr>
        <p:spPr>
          <a:xfrm>
            <a:off x="13669000" y="5200000"/>
            <a:ext cx="3550000" cy="6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REPORT</a:t>
            </a:r>
          </a:p>
        </p:txBody>
      </p:sp>
      <p:sp>
        <p:nvSpPr>
          <p:cNvPr id="140" name="Phase time 140"/>
          <p:cNvSpPr txBox="1"/>
          <p:nvPr/>
        </p:nvSpPr>
        <p:spPr>
          <a:xfrm>
            <a:off x="13669000" y="5800000"/>
            <a:ext cx="3550000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2E8B57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Score and verdict</a:t>
            </a:r>
          </a:p>
        </p:txBody>
      </p:sp>
      <p:sp>
        <p:nvSpPr>
          <p:cNvPr id="141" name="Phase desc 141"/>
          <p:cNvSpPr txBox="1"/>
          <p:nvPr/>
        </p:nvSpPr>
        <p:spPr>
          <a:xfrm>
            <a:off x="13769000" y="6450000"/>
            <a:ext cx="3350000" cy="20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Print similarity %, time, comparisons and the verdict.</a:t>
            </a:r>
          </a:p>
        </p:txBody>
      </p:sp>
      <p:sp>
        <p:nvSpPr>
          <p:cNvPr id="142" name="Cycle note 142"/>
          <p:cNvSpPr txBox="1"/>
          <p:nvPr/>
        </p:nvSpPr>
        <p:spPr>
          <a:xfrm>
            <a:off x="900000" y="9000000"/>
            <a:ext cx="16488000" cy="6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i="1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Every run follows the same loop: input, clean, search, report.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59995" y="0"/>
            <a:ext cx="1728005" cy="1938698"/>
          </a:xfrm>
          <a:custGeom>
            <a:avLst/>
            <a:gdLst/>
            <a:ahLst/>
            <a:cxnLst/>
            <a:rect l="l" t="t" r="r" b="b"/>
            <a:pathLst>
              <a:path w="1728005" h="1938698">
                <a:moveTo>
                  <a:pt x="0" y="0"/>
                </a:moveTo>
                <a:lnTo>
                  <a:pt x="1728005" y="0"/>
                </a:lnTo>
                <a:lnTo>
                  <a:pt x="1728005" y="1938698"/>
                </a:lnTo>
                <a:lnTo>
                  <a:pt x="0" y="19386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033" t="-790" r="-1277" b="-88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748" y="10312"/>
            <a:ext cx="1874725" cy="2057369"/>
          </a:xfrm>
          <a:custGeom>
            <a:avLst/>
            <a:gdLst/>
            <a:ahLst/>
            <a:cxnLst/>
            <a:rect l="l" t="t" r="r" b="b"/>
            <a:pathLst>
              <a:path w="1874725" h="2057369">
                <a:moveTo>
                  <a:pt x="0" y="0"/>
                </a:moveTo>
                <a:lnTo>
                  <a:pt x="1874725" y="0"/>
                </a:lnTo>
                <a:lnTo>
                  <a:pt x="1874725" y="2057368"/>
                </a:lnTo>
                <a:lnTo>
                  <a:pt x="0" y="20573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360" r="-936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44732" y="60579"/>
            <a:ext cx="13342205" cy="70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9"/>
              </a:lnSpc>
              <a:spcBef>
                <a:spcPct val="0"/>
              </a:spcBef>
            </a:pPr>
            <a:r>
              <a:rPr lang="en-US" sz="4178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A D PATEL INSTITUTE OF TECHNOLOGY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70820" y="627848"/>
            <a:ext cx="8963812" cy="839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CHARUTAR VIDHYAMANDAL UNIVERSITY</a:t>
            </a:r>
          </a:p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DEPT. OF INFORMATION TECHNOLOGY ENG. A.Y.:2025-26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75926" y="1428929"/>
            <a:ext cx="9360818" cy="399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 and Analysis of Algorithms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8727" y="2048630"/>
            <a:ext cx="18713677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-1470591" y="7416499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5" name="Title 145"/>
          <p:cNvSpPr txBox="1"/>
          <p:nvPr/>
        </p:nvSpPr>
        <p:spPr>
          <a:xfrm>
            <a:off x="900000" y="2330000"/>
            <a:ext cx="16488000" cy="10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u="sng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MAIN FEATURES</a:t>
            </a:r>
          </a:p>
        </p:txBody>
      </p:sp>
      <p:sp>
        <p:nvSpPr>
          <p:cNvPr id="146" name="Phase tag 146"/>
          <p:cNvSpPr/>
          <p:nvPr/>
        </p:nvSpPr>
        <p:spPr>
          <a:xfrm>
            <a:off x="4044000" y="3480000"/>
            <a:ext cx="10200000" cy="640000"/>
          </a:xfrm>
          <a:prstGeom prst="roundRect">
            <a:avLst>
              <a:gd name="adj" fmla="val 50000"/>
            </a:avLst>
          </a:prstGeom>
          <a:solidFill>
            <a:srgbClr val="0C357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MODULE 1  |  Document comparison</a:t>
            </a:r>
          </a:p>
        </p:txBody>
      </p:sp>
      <p:sp>
        <p:nvSpPr>
          <p:cNvPr id="147" name="Body 147"/>
          <p:cNvSpPr txBox="1"/>
          <p:nvPr/>
        </p:nvSpPr>
        <p:spPr>
          <a:xfrm>
            <a:off x="1300000" y="4500000"/>
            <a:ext cx="9500000" cy="5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520000" indent="-520000" algn="l">
              <a:lnSpc>
                <a:spcPts val="3600"/>
              </a:lnSpc>
              <a:spcBef>
                <a:spcPts val="0"/>
              </a:spcBef>
              <a:spcAft>
                <a:spcPts val="15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Compare an original and a suspect text file from the command line.</a:t>
            </a:r>
          </a:p>
          <a:p>
            <a:pPr marL="520000" indent="-520000" algn="l">
              <a:lnSpc>
                <a:spcPts val="3600"/>
              </a:lnSpc>
              <a:spcBef>
                <a:spcPts val="0"/>
              </a:spcBef>
              <a:spcAft>
                <a:spcPts val="15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Set the chunk size with --chunk (default is 5 words).</a:t>
            </a:r>
          </a:p>
          <a:p>
            <a:pPr marL="520000" indent="-520000" algn="l">
              <a:lnSpc>
                <a:spcPts val="3600"/>
              </a:lnSpc>
              <a:spcBef>
                <a:spcPts val="0"/>
              </a:spcBef>
              <a:spcAft>
                <a:spcPts val="15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Run all three algorithms on the same input for a fair comparison.</a:t>
            </a:r>
          </a:p>
          <a:p>
            <a:pPr marL="520000" indent="-520000" algn="l">
              <a:lnSpc>
                <a:spcPts val="3600"/>
              </a:lnSpc>
              <a:spcBef>
                <a:spcPts val="0"/>
              </a:spcBef>
              <a:spcAft>
                <a:spcPts val="15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See similarity %, time, comparisons and the matched chunks.</a:t>
            </a:r>
          </a:p>
        </p:txBody>
      </p:sp>
      <p:sp>
        <p:nvSpPr>
          <p:cNvPr id="143" name="Card 143"/>
          <p:cNvSpPr/>
          <p:nvPr/>
        </p:nvSpPr>
        <p:spPr>
          <a:xfrm>
            <a:off x="11300000" y="4500000"/>
            <a:ext cx="5800000" cy="4800000"/>
          </a:xfrm>
          <a:prstGeom prst="roundRect">
            <a:avLst>
              <a:gd name="adj" fmla="val 6000"/>
            </a:avLst>
          </a:prstGeom>
          <a:solidFill>
            <a:srgbClr val="0C3571"/>
          </a:solidFill>
          <a:ln>
            <a:noFill/>
          </a:ln>
          <a:effectLst>
            <a:outerShdw blurRad="152400" dist="50800" dir="5400000" algn="t" rotWithShape="0">
              <a:srgbClr val="0C3571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4" name="Card text 144"/>
          <p:cNvSpPr txBox="1"/>
          <p:nvPr/>
        </p:nvSpPr>
        <p:spPr>
          <a:xfrm>
            <a:off x="11750000" y="4880000"/>
            <a:ext cx="4900000" cy="41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3000" b="1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Verdict scale</a:t>
            </a:r>
          </a:p>
          <a:p>
            <a:pPr algn="l">
              <a:lnSpc>
                <a:spcPts val="32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BFD9F2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60% or more</a:t>
            </a:r>
          </a:p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HIGH plagiarism</a:t>
            </a:r>
          </a:p>
          <a:p>
            <a:pPr algn="l">
              <a:lnSpc>
                <a:spcPts val="32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BFD9F2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30% to 59%</a:t>
            </a:r>
          </a:p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MODERATE</a:t>
            </a:r>
          </a:p>
          <a:p>
            <a:pPr algn="l">
              <a:lnSpc>
                <a:spcPts val="32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BFD9F2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Below 30%</a:t>
            </a:r>
          </a:p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LOW / original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59995" y="0"/>
            <a:ext cx="1728005" cy="1938698"/>
          </a:xfrm>
          <a:custGeom>
            <a:avLst/>
            <a:gdLst/>
            <a:ahLst/>
            <a:cxnLst/>
            <a:rect l="l" t="t" r="r" b="b"/>
            <a:pathLst>
              <a:path w="1728005" h="1938698">
                <a:moveTo>
                  <a:pt x="0" y="0"/>
                </a:moveTo>
                <a:lnTo>
                  <a:pt x="1728005" y="0"/>
                </a:lnTo>
                <a:lnTo>
                  <a:pt x="1728005" y="1938698"/>
                </a:lnTo>
                <a:lnTo>
                  <a:pt x="0" y="19386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033" t="-790" r="-1277" b="-88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748" y="10312"/>
            <a:ext cx="1874725" cy="2057369"/>
          </a:xfrm>
          <a:custGeom>
            <a:avLst/>
            <a:gdLst/>
            <a:ahLst/>
            <a:cxnLst/>
            <a:rect l="l" t="t" r="r" b="b"/>
            <a:pathLst>
              <a:path w="1874725" h="2057369">
                <a:moveTo>
                  <a:pt x="0" y="0"/>
                </a:moveTo>
                <a:lnTo>
                  <a:pt x="1874725" y="0"/>
                </a:lnTo>
                <a:lnTo>
                  <a:pt x="1874725" y="2057368"/>
                </a:lnTo>
                <a:lnTo>
                  <a:pt x="0" y="20573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360" r="-936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44732" y="60579"/>
            <a:ext cx="13342205" cy="70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9"/>
              </a:lnSpc>
              <a:spcBef>
                <a:spcPct val="0"/>
              </a:spcBef>
            </a:pPr>
            <a:r>
              <a:rPr lang="en-US" sz="4178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A D PATEL INSTITUTE OF TECHNOLOGY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70820" y="627848"/>
            <a:ext cx="8963812" cy="839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CHARUTAR VIDHYAMANDAL UNIVERSITY</a:t>
            </a:r>
          </a:p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DEPT. OF INFORMATION TECHNOLOGY ENG. A.Y.:2025-26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75926" y="1428929"/>
            <a:ext cx="9360818" cy="399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 and Analysis of Algorithms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8727" y="2048630"/>
            <a:ext cx="18713677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-1470591" y="7416499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0" name="Title 150"/>
          <p:cNvSpPr txBox="1"/>
          <p:nvPr/>
        </p:nvSpPr>
        <p:spPr>
          <a:xfrm>
            <a:off x="900000" y="2330000"/>
            <a:ext cx="16488000" cy="10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u="sng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COMPLEXITY ANALYSIS</a:t>
            </a:r>
          </a:p>
        </p:txBody>
      </p:sp>
      <p:sp>
        <p:nvSpPr>
          <p:cNvPr id="151" name="Phase tag 151"/>
          <p:cNvSpPr/>
          <p:nvPr/>
        </p:nvSpPr>
        <p:spPr>
          <a:xfrm>
            <a:off x="4044000" y="3480000"/>
            <a:ext cx="10200000" cy="64000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DAA  |  n = text length, m = pattern length</a:t>
            </a:r>
          </a:p>
        </p:txBody>
      </p:sp>
      <p:sp>
        <p:nvSpPr>
          <p:cNvPr id="152" name="Body 152"/>
          <p:cNvSpPr txBox="1"/>
          <p:nvPr/>
        </p:nvSpPr>
        <p:spPr>
          <a:xfrm>
            <a:off x="1300000" y="4500000"/>
            <a:ext cx="9500000" cy="5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520000" indent="-520000" algn="l">
              <a:lnSpc>
                <a:spcPts val="3600"/>
              </a:lnSpc>
              <a:spcBef>
                <a:spcPts val="0"/>
              </a:spcBef>
              <a:spcAft>
                <a:spcPts val="15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Naive checks every position, so its worst case is O(n·m).</a:t>
            </a:r>
          </a:p>
          <a:p>
            <a:pPr marL="520000" indent="-520000" algn="l">
              <a:lnSpc>
                <a:spcPts val="3600"/>
              </a:lnSpc>
              <a:spcBef>
                <a:spcPts val="0"/>
              </a:spcBef>
              <a:spcAft>
                <a:spcPts val="15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KMP uses the LPS table and never moves back in the text: O(n+m).</a:t>
            </a:r>
          </a:p>
          <a:p>
            <a:pPr marL="520000" indent="-520000" algn="l">
              <a:lnSpc>
                <a:spcPts val="3600"/>
              </a:lnSpc>
              <a:spcBef>
                <a:spcPts val="0"/>
              </a:spcBef>
              <a:spcAft>
                <a:spcPts val="15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Rabin-Karp compares hashes first, but many hash hits can reach O(n·m).</a:t>
            </a:r>
          </a:p>
          <a:p>
            <a:pPr marL="520000" indent="-520000" algn="l">
              <a:lnSpc>
                <a:spcPts val="3600"/>
              </a:lnSpc>
              <a:spcBef>
                <a:spcPts val="0"/>
              </a:spcBef>
              <a:spcAft>
                <a:spcPts val="15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Space: Naive and Rabin-Karp use O(1), KMP uses O(m) for the LPS table.</a:t>
            </a:r>
          </a:p>
        </p:txBody>
      </p:sp>
      <p:sp>
        <p:nvSpPr>
          <p:cNvPr id="148" name="Card 148"/>
          <p:cNvSpPr/>
          <p:nvPr/>
        </p:nvSpPr>
        <p:spPr>
          <a:xfrm>
            <a:off x="11300000" y="4500000"/>
            <a:ext cx="5800000" cy="4800000"/>
          </a:xfrm>
          <a:prstGeom prst="roundRect">
            <a:avLst>
              <a:gd name="adj" fmla="val 6000"/>
            </a:avLst>
          </a:prstGeom>
          <a:solidFill>
            <a:srgbClr val="0C3571"/>
          </a:solidFill>
          <a:ln>
            <a:noFill/>
          </a:ln>
          <a:effectLst>
            <a:outerShdw blurRad="152400" dist="50800" dir="5400000" algn="t" rotWithShape="0">
              <a:srgbClr val="0C3571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9" name="Card text 149"/>
          <p:cNvSpPr txBox="1"/>
          <p:nvPr/>
        </p:nvSpPr>
        <p:spPr>
          <a:xfrm>
            <a:off x="11750000" y="4880000"/>
            <a:ext cx="4900000" cy="41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3000" b="1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Worst case</a:t>
            </a:r>
          </a:p>
          <a:p>
            <a:pPr marL="420000" indent="-420000" algn="l">
              <a:lnSpc>
                <a:spcPts val="3200"/>
              </a:lnSpc>
              <a:spcBef>
                <a:spcPts val="0"/>
              </a:spcBef>
              <a:spcAft>
                <a:spcPts val="500"/>
              </a:spcAft>
              <a:buClr>
                <a:srgbClr val="BFD9F2"/>
              </a:buClr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Naive : O(n·m)</a:t>
            </a:r>
          </a:p>
          <a:p>
            <a:pPr marL="420000" indent="-420000" algn="l">
              <a:lnSpc>
                <a:spcPts val="3200"/>
              </a:lnSpc>
              <a:spcBef>
                <a:spcPts val="0"/>
              </a:spcBef>
              <a:spcAft>
                <a:spcPts val="500"/>
              </a:spcAft>
              <a:buClr>
                <a:srgbClr val="BFD9F2"/>
              </a:buClr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KMP : O(n+m)</a:t>
            </a:r>
          </a:p>
          <a:p>
            <a:pPr marL="420000" indent="-420000" algn="l">
              <a:lnSpc>
                <a:spcPts val="3200"/>
              </a:lnSpc>
              <a:spcBef>
                <a:spcPts val="0"/>
              </a:spcBef>
              <a:spcAft>
                <a:spcPts val="500"/>
              </a:spcAft>
              <a:buClr>
                <a:srgbClr val="BFD9F2"/>
              </a:buClr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Rabin-Karp : O(n·m)</a:t>
            </a:r>
          </a:p>
          <a:p>
            <a:pPr marL="420000" indent="-420000" algn="l">
              <a:lnSpc>
                <a:spcPts val="3200"/>
              </a:lnSpc>
              <a:spcBef>
                <a:spcPts val="0"/>
              </a:spcBef>
              <a:spcAft>
                <a:spcPts val="500"/>
              </a:spcAft>
              <a:buClr>
                <a:srgbClr val="BFD9F2"/>
              </a:buClr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Average (all) : O(n+m)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59995" y="0"/>
            <a:ext cx="1728005" cy="1938698"/>
          </a:xfrm>
          <a:custGeom>
            <a:avLst/>
            <a:gdLst/>
            <a:ahLst/>
            <a:cxnLst/>
            <a:rect l="l" t="t" r="r" b="b"/>
            <a:pathLst>
              <a:path w="1728005" h="1938698">
                <a:moveTo>
                  <a:pt x="0" y="0"/>
                </a:moveTo>
                <a:lnTo>
                  <a:pt x="1728005" y="0"/>
                </a:lnTo>
                <a:lnTo>
                  <a:pt x="1728005" y="1938698"/>
                </a:lnTo>
                <a:lnTo>
                  <a:pt x="0" y="19386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033" t="-790" r="-1277" b="-88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748" y="10312"/>
            <a:ext cx="1874725" cy="2057369"/>
          </a:xfrm>
          <a:custGeom>
            <a:avLst/>
            <a:gdLst/>
            <a:ahLst/>
            <a:cxnLst/>
            <a:rect l="l" t="t" r="r" b="b"/>
            <a:pathLst>
              <a:path w="1874725" h="2057369">
                <a:moveTo>
                  <a:pt x="0" y="0"/>
                </a:moveTo>
                <a:lnTo>
                  <a:pt x="1874725" y="0"/>
                </a:lnTo>
                <a:lnTo>
                  <a:pt x="1874725" y="2057368"/>
                </a:lnTo>
                <a:lnTo>
                  <a:pt x="0" y="20573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360" r="-936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44732" y="60579"/>
            <a:ext cx="13342205" cy="70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9"/>
              </a:lnSpc>
              <a:spcBef>
                <a:spcPct val="0"/>
              </a:spcBef>
            </a:pPr>
            <a:r>
              <a:rPr lang="en-US" sz="4178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A D PATEL INSTITUTE OF TECHNOLOGY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70820" y="627848"/>
            <a:ext cx="8745180" cy="839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CHARUTAR VIDHYAMANDAL UNIVERSITY</a:t>
            </a:r>
          </a:p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DEPT. OF INFORMATION TECHNOLOGY ENG. A.Y.:2025-26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75926" y="1428929"/>
            <a:ext cx="9360818" cy="399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 and Analysis of Algorithms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8727" y="2048630"/>
            <a:ext cx="18713677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-1470591" y="7416499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5" name="Title 155"/>
          <p:cNvSpPr txBox="1"/>
          <p:nvPr/>
        </p:nvSpPr>
        <p:spPr>
          <a:xfrm>
            <a:off x="900000" y="2330000"/>
            <a:ext cx="16488000" cy="10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u="sng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KEY FUNCTIONS</a:t>
            </a:r>
          </a:p>
        </p:txBody>
      </p:sp>
      <p:sp>
        <p:nvSpPr>
          <p:cNvPr id="156" name="Phase tag 156"/>
          <p:cNvSpPr/>
          <p:nvPr/>
        </p:nvSpPr>
        <p:spPr>
          <a:xfrm>
            <a:off x="4044000" y="3480000"/>
            <a:ext cx="10200000" cy="6400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ALGORITHMS.PY and PLAGIARISM.PY</a:t>
            </a:r>
          </a:p>
        </p:txBody>
      </p:sp>
      <p:sp>
        <p:nvSpPr>
          <p:cNvPr id="157" name="Body 157"/>
          <p:cNvSpPr txBox="1"/>
          <p:nvPr/>
        </p:nvSpPr>
        <p:spPr>
          <a:xfrm>
            <a:off x="1300000" y="4500000"/>
            <a:ext cx="9500000" cy="5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520000" indent="-520000" algn="l">
              <a:lnSpc>
                <a:spcPts val="3600"/>
              </a:lnSpc>
              <a:spcBef>
                <a:spcPts val="0"/>
              </a:spcBef>
              <a:spcAft>
                <a:spcPts val="15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naive_search(), kmp_search() and rabin_karp_search() return (matches, comparisons).</a:t>
            </a:r>
          </a:p>
          <a:p>
            <a:pPr marL="520000" indent="-520000" algn="l">
              <a:lnSpc>
                <a:spcPts val="3600"/>
              </a:lnSpc>
              <a:spcBef>
                <a:spcPts val="0"/>
              </a:spcBef>
              <a:spcAft>
                <a:spcPts val="15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build_lps() creates the prefix table that KMP uses.</a:t>
            </a:r>
          </a:p>
          <a:p>
            <a:pPr marL="520000" indent="-520000" algn="l">
              <a:lnSpc>
                <a:spcPts val="3600"/>
              </a:lnSpc>
              <a:spcBef>
                <a:spcPts val="0"/>
              </a:spcBef>
              <a:spcAft>
                <a:spcPts val="15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preprocess() and make_chunks() clean the text and split it into chunks.</a:t>
            </a:r>
          </a:p>
          <a:p>
            <a:pPr marL="520000" indent="-520000" algn="l">
              <a:lnSpc>
                <a:spcPts val="3600"/>
              </a:lnSpc>
              <a:spcBef>
                <a:spcPts val="0"/>
              </a:spcBef>
              <a:spcAft>
                <a:spcPts val="15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check() runs all three algorithms and builds the similarity report.</a:t>
            </a:r>
          </a:p>
        </p:txBody>
      </p:sp>
      <p:sp>
        <p:nvSpPr>
          <p:cNvPr id="153" name="Card 153"/>
          <p:cNvSpPr/>
          <p:nvPr/>
        </p:nvSpPr>
        <p:spPr>
          <a:xfrm>
            <a:off x="11300000" y="4500000"/>
            <a:ext cx="5800000" cy="4800000"/>
          </a:xfrm>
          <a:prstGeom prst="roundRect">
            <a:avLst>
              <a:gd name="adj" fmla="val 6000"/>
            </a:avLst>
          </a:prstGeom>
          <a:solidFill>
            <a:srgbClr val="0C3571"/>
          </a:solidFill>
          <a:ln>
            <a:noFill/>
          </a:ln>
          <a:effectLst>
            <a:outerShdw blurRad="152400" dist="50800" dir="5400000" algn="t" rotWithShape="0">
              <a:srgbClr val="0C3571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4" name="Card text 154"/>
          <p:cNvSpPr txBox="1"/>
          <p:nvPr/>
        </p:nvSpPr>
        <p:spPr>
          <a:xfrm>
            <a:off x="11750000" y="4880000"/>
            <a:ext cx="4900000" cy="41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Modular design</a:t>
            </a:r>
          </a:p>
          <a:p>
            <a:pPr algn="ctr">
              <a:lnSpc>
                <a:spcPts val="11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600" b="1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8</a:t>
            </a:r>
          </a:p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BFD9F2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FUNCTIONS</a:t>
            </a:r>
          </a:p>
          <a:p>
            <a:pPr algn="ctr">
              <a:lnSpc>
                <a:spcPts val="3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Each function has one clear job.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59995" y="0"/>
            <a:ext cx="1728005" cy="1938698"/>
          </a:xfrm>
          <a:custGeom>
            <a:avLst/>
            <a:gdLst/>
            <a:ahLst/>
            <a:cxnLst/>
            <a:rect l="l" t="t" r="r" b="b"/>
            <a:pathLst>
              <a:path w="1728005" h="1938698">
                <a:moveTo>
                  <a:pt x="0" y="0"/>
                </a:moveTo>
                <a:lnTo>
                  <a:pt x="1728005" y="0"/>
                </a:lnTo>
                <a:lnTo>
                  <a:pt x="1728005" y="1938698"/>
                </a:lnTo>
                <a:lnTo>
                  <a:pt x="0" y="19386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033" t="-790" r="-1277" b="-88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748" y="10312"/>
            <a:ext cx="1874725" cy="2057369"/>
          </a:xfrm>
          <a:custGeom>
            <a:avLst/>
            <a:gdLst/>
            <a:ahLst/>
            <a:cxnLst/>
            <a:rect l="l" t="t" r="r" b="b"/>
            <a:pathLst>
              <a:path w="1874725" h="2057369">
                <a:moveTo>
                  <a:pt x="0" y="0"/>
                </a:moveTo>
                <a:lnTo>
                  <a:pt x="1874725" y="0"/>
                </a:lnTo>
                <a:lnTo>
                  <a:pt x="1874725" y="2057368"/>
                </a:lnTo>
                <a:lnTo>
                  <a:pt x="0" y="20573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360" r="-936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44732" y="60579"/>
            <a:ext cx="13342205" cy="70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9"/>
              </a:lnSpc>
              <a:spcBef>
                <a:spcPct val="0"/>
              </a:spcBef>
            </a:pPr>
            <a:r>
              <a:rPr lang="en-US" sz="4178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A D PATEL INSTITUTE OF TECHNOLOGY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70820" y="627848"/>
            <a:ext cx="8821380" cy="839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CHARUTAR VIDHYAMANDAL UNIVERSITY</a:t>
            </a:r>
          </a:p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DEPT. OF INFORMATION TECHNOLOGY ENG. A.Y.:2025-26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75926" y="1428929"/>
            <a:ext cx="9360818" cy="399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 and Analysis of Algorithms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8727" y="2048630"/>
            <a:ext cx="18713677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-1470591" y="7416499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0" name="Title 160"/>
          <p:cNvSpPr txBox="1"/>
          <p:nvPr/>
        </p:nvSpPr>
        <p:spPr>
          <a:xfrm>
            <a:off x="900000" y="2330000"/>
            <a:ext cx="16488000" cy="10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u="sng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SAMPLE OUTPUT</a:t>
            </a:r>
          </a:p>
        </p:txBody>
      </p:sp>
      <p:sp>
        <p:nvSpPr>
          <p:cNvPr id="161" name="Phase tag 161"/>
          <p:cNvSpPr/>
          <p:nvPr/>
        </p:nvSpPr>
        <p:spPr>
          <a:xfrm>
            <a:off x="4044000" y="3480000"/>
            <a:ext cx="10200000" cy="6400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RUN  |  suspect_high.txt vs original.txt</a:t>
            </a:r>
          </a:p>
        </p:txBody>
      </p:sp>
      <p:sp>
        <p:nvSpPr>
          <p:cNvPr id="162" name="Body 162"/>
          <p:cNvSpPr txBox="1"/>
          <p:nvPr/>
        </p:nvSpPr>
        <p:spPr>
          <a:xfrm>
            <a:off x="1300000" y="4500000"/>
            <a:ext cx="9500000" cy="5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520000" indent="-520000" algn="l">
              <a:lnSpc>
                <a:spcPts val="3600"/>
              </a:lnSpc>
              <a:spcBef>
                <a:spcPts val="0"/>
              </a:spcBef>
              <a:spcAft>
                <a:spcPts val="15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14 chunks checked and 11 matched, so all three algorithms report 78.6% similarity.</a:t>
            </a:r>
          </a:p>
          <a:p>
            <a:pPr marL="520000" indent="-520000" algn="l">
              <a:lnSpc>
                <a:spcPts val="3600"/>
              </a:lnSpc>
              <a:spcBef>
                <a:spcPts val="0"/>
              </a:spcBef>
              <a:spcAft>
                <a:spcPts val="15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Verdict is HIGH plagiarism, since the score is above 60%.</a:t>
            </a:r>
          </a:p>
          <a:p>
            <a:pPr marL="520000" indent="-520000" algn="l">
              <a:lnSpc>
                <a:spcPts val="3600"/>
              </a:lnSpc>
              <a:spcBef>
                <a:spcPts val="0"/>
              </a:spcBef>
              <a:spcAft>
                <a:spcPts val="15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suspect_low.txt gives 0.0% similarity and the verdict LOW / original.</a:t>
            </a:r>
          </a:p>
          <a:p>
            <a:pPr marL="520000" indent="-520000" algn="l">
              <a:lnSpc>
                <a:spcPts val="3600"/>
              </a:lnSpc>
              <a:spcBef>
                <a:spcPts val="0"/>
              </a:spcBef>
              <a:spcAft>
                <a:spcPts val="15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Rabin-Karp needed only 334 comparisons, while Naive needed 9378.</a:t>
            </a:r>
          </a:p>
        </p:txBody>
      </p:sp>
      <p:sp>
        <p:nvSpPr>
          <p:cNvPr id="158" name="Card 158"/>
          <p:cNvSpPr/>
          <p:nvPr/>
        </p:nvSpPr>
        <p:spPr>
          <a:xfrm>
            <a:off x="11300000" y="4500000"/>
            <a:ext cx="5800000" cy="4800000"/>
          </a:xfrm>
          <a:prstGeom prst="roundRect">
            <a:avLst>
              <a:gd name="adj" fmla="val 6000"/>
            </a:avLst>
          </a:prstGeom>
          <a:solidFill>
            <a:srgbClr val="0C3571"/>
          </a:solidFill>
          <a:ln>
            <a:noFill/>
          </a:ln>
          <a:effectLst>
            <a:outerShdw blurRad="152400" dist="50800" dir="5400000" algn="t" rotWithShape="0">
              <a:srgbClr val="0C3571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9" name="Card text 159"/>
          <p:cNvSpPr txBox="1"/>
          <p:nvPr/>
        </p:nvSpPr>
        <p:spPr>
          <a:xfrm>
            <a:off x="11750000" y="4880000"/>
            <a:ext cx="4900000" cy="41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3000" b="1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Comparisons</a:t>
            </a:r>
          </a:p>
          <a:p>
            <a:pPr algn="l">
              <a:lnSpc>
                <a:spcPts val="32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BFD9F2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Naive</a:t>
            </a:r>
          </a:p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9378</a:t>
            </a:r>
          </a:p>
          <a:p>
            <a:pPr algn="l">
              <a:lnSpc>
                <a:spcPts val="32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BFD9F2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KMP</a:t>
            </a:r>
          </a:p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9307</a:t>
            </a:r>
          </a:p>
          <a:p>
            <a:pPr algn="l">
              <a:lnSpc>
                <a:spcPts val="32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BFD9F2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Rabin-Karp</a:t>
            </a:r>
          </a:p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334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59995" y="0"/>
            <a:ext cx="1728005" cy="1938698"/>
          </a:xfrm>
          <a:custGeom>
            <a:avLst/>
            <a:gdLst/>
            <a:ahLst/>
            <a:cxnLst/>
            <a:rect l="l" t="t" r="r" b="b"/>
            <a:pathLst>
              <a:path w="1728005" h="1938698">
                <a:moveTo>
                  <a:pt x="0" y="0"/>
                </a:moveTo>
                <a:lnTo>
                  <a:pt x="1728005" y="0"/>
                </a:lnTo>
                <a:lnTo>
                  <a:pt x="1728005" y="1938698"/>
                </a:lnTo>
                <a:lnTo>
                  <a:pt x="0" y="19386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033" t="-790" r="-1277" b="-88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748" y="10312"/>
            <a:ext cx="1874725" cy="2057369"/>
          </a:xfrm>
          <a:custGeom>
            <a:avLst/>
            <a:gdLst/>
            <a:ahLst/>
            <a:cxnLst/>
            <a:rect l="l" t="t" r="r" b="b"/>
            <a:pathLst>
              <a:path w="1874725" h="2057369">
                <a:moveTo>
                  <a:pt x="0" y="0"/>
                </a:moveTo>
                <a:lnTo>
                  <a:pt x="1874725" y="0"/>
                </a:lnTo>
                <a:lnTo>
                  <a:pt x="1874725" y="2057368"/>
                </a:lnTo>
                <a:lnTo>
                  <a:pt x="0" y="20573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360" r="-936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44732" y="60579"/>
            <a:ext cx="13342205" cy="70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9"/>
              </a:lnSpc>
              <a:spcBef>
                <a:spcPct val="0"/>
              </a:spcBef>
            </a:pPr>
            <a:r>
              <a:rPr lang="en-US" sz="4178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A D PATEL INSTITUTE OF TECHNOLOGY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70820" y="627848"/>
            <a:ext cx="8745180" cy="839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CHARUTAR VIDHYAMANDAL UNIVERSITY</a:t>
            </a:r>
          </a:p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DEPT. OF INFORMATION TECHNOLOGY ENG. A.Y.:2025-26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75926" y="1428929"/>
            <a:ext cx="9360818" cy="399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 and Analysis of Algorithms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8727" y="2048630"/>
            <a:ext cx="18713677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-1470591" y="7416499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3" name="Title 163"/>
          <p:cNvSpPr txBox="1"/>
          <p:nvPr/>
        </p:nvSpPr>
        <p:spPr>
          <a:xfrm>
            <a:off x="900000" y="2330000"/>
            <a:ext cx="16488000" cy="10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u="sng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EXPERIMENTAL RESULTS</a:t>
            </a:r>
          </a:p>
        </p:txBody>
      </p:sp>
      <p:pic>
        <p:nvPicPr>
          <p:cNvPr id="300" name="Performance graph" descr="Line charts of execution time versus text size for Naive, KMP and Rabin-Karp on random text and on worst case tex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8500" y="3450000"/>
            <a:ext cx="15171000" cy="59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59995" y="0"/>
            <a:ext cx="1728005" cy="1938698"/>
          </a:xfrm>
          <a:custGeom>
            <a:avLst/>
            <a:gdLst/>
            <a:ahLst/>
            <a:cxnLst/>
            <a:rect l="l" t="t" r="r" b="b"/>
            <a:pathLst>
              <a:path w="1728005" h="1938698">
                <a:moveTo>
                  <a:pt x="0" y="0"/>
                </a:moveTo>
                <a:lnTo>
                  <a:pt x="1728005" y="0"/>
                </a:lnTo>
                <a:lnTo>
                  <a:pt x="1728005" y="1938698"/>
                </a:lnTo>
                <a:lnTo>
                  <a:pt x="0" y="19386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033" t="-790" r="-1277" b="-88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748" y="10312"/>
            <a:ext cx="1874725" cy="2057369"/>
          </a:xfrm>
          <a:custGeom>
            <a:avLst/>
            <a:gdLst/>
            <a:ahLst/>
            <a:cxnLst/>
            <a:rect l="l" t="t" r="r" b="b"/>
            <a:pathLst>
              <a:path w="1874725" h="2057369">
                <a:moveTo>
                  <a:pt x="0" y="0"/>
                </a:moveTo>
                <a:lnTo>
                  <a:pt x="1874725" y="0"/>
                </a:lnTo>
                <a:lnTo>
                  <a:pt x="1874725" y="2057368"/>
                </a:lnTo>
                <a:lnTo>
                  <a:pt x="0" y="20573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360" r="-936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44732" y="60579"/>
            <a:ext cx="13342205" cy="70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9"/>
              </a:lnSpc>
              <a:spcBef>
                <a:spcPct val="0"/>
              </a:spcBef>
            </a:pPr>
            <a:r>
              <a:rPr lang="en-US" sz="4178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A D PATEL INSTITUTE OF TECHNOLOGY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70820" y="627848"/>
            <a:ext cx="9049980" cy="839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CHARUTAR VIDHYAMANDAL UNIVERSITY</a:t>
            </a:r>
          </a:p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DEPT. OF INFORMATION TECHNOLOGY ENG. A.Y.:2025-26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75926" y="1428929"/>
            <a:ext cx="9360818" cy="399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 and Analysis of Algorithms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8727" y="2048630"/>
            <a:ext cx="18713677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-1470591" y="7416499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6" name="Title 176"/>
          <p:cNvSpPr txBox="1"/>
          <p:nvPr/>
        </p:nvSpPr>
        <p:spPr>
          <a:xfrm>
            <a:off x="900000" y="2330000"/>
            <a:ext cx="16488000" cy="10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u="sng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OBSERVATIONS</a:t>
            </a:r>
          </a:p>
        </p:txBody>
      </p:sp>
      <p:sp>
        <p:nvSpPr>
          <p:cNvPr id="177" name="Case card 177"/>
          <p:cNvSpPr/>
          <p:nvPr/>
        </p:nvSpPr>
        <p:spPr>
          <a:xfrm>
            <a:off x="1200000" y="3600000"/>
            <a:ext cx="15888000" cy="140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152400" dist="50800" dir="5400000" algn="t" rotWithShape="0">
              <a:srgbClr val="0C3571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8" name="Case year 178"/>
          <p:cNvSpPr/>
          <p:nvPr/>
        </p:nvSpPr>
        <p:spPr>
          <a:xfrm>
            <a:off x="1400000" y="3750000"/>
            <a:ext cx="2300000" cy="1100000"/>
          </a:xfrm>
          <a:prstGeom prst="roundRect">
            <a:avLst>
              <a:gd name="adj" fmla="val 14000"/>
            </a:avLst>
          </a:prstGeom>
          <a:solidFill>
            <a:srgbClr val="0C357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NAIVE</a:t>
            </a:r>
          </a:p>
        </p:txBody>
      </p:sp>
      <p:sp>
        <p:nvSpPr>
          <p:cNvPr id="179" name="Case text 179"/>
          <p:cNvSpPr txBox="1"/>
          <p:nvPr/>
        </p:nvSpPr>
        <p:spPr>
          <a:xfrm>
            <a:off x="4000000" y="3700000"/>
            <a:ext cx="12900000" cy="12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Slow in the worst case</a:t>
            </a:r>
          </a:p>
          <a:p>
            <a:pPr algn="l">
              <a:lnSpc>
                <a:spcPts val="28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Takes 250.8 ms on 100,000 characters of aaa..ab text.</a:t>
            </a:r>
          </a:p>
        </p:txBody>
      </p:sp>
      <p:sp>
        <p:nvSpPr>
          <p:cNvPr id="180" name="Case card 180"/>
          <p:cNvSpPr/>
          <p:nvPr/>
        </p:nvSpPr>
        <p:spPr>
          <a:xfrm>
            <a:off x="1200000" y="5160000"/>
            <a:ext cx="15888000" cy="140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152400" dist="50800" dir="5400000" algn="t" rotWithShape="0">
              <a:srgbClr val="0C3571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1" name="Case year 181"/>
          <p:cNvSpPr/>
          <p:nvPr/>
        </p:nvSpPr>
        <p:spPr>
          <a:xfrm>
            <a:off x="1400000" y="5310000"/>
            <a:ext cx="2300000" cy="1100000"/>
          </a:xfrm>
          <a:prstGeom prst="roundRect">
            <a:avLst>
              <a:gd name="adj" fmla="val 14000"/>
            </a:avLst>
          </a:prstGeom>
          <a:solidFill>
            <a:srgbClr val="0C357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KMP</a:t>
            </a:r>
          </a:p>
        </p:txBody>
      </p:sp>
      <p:sp>
        <p:nvSpPr>
          <p:cNvPr id="182" name="Case text 182"/>
          <p:cNvSpPr txBox="1"/>
          <p:nvPr/>
        </p:nvSpPr>
        <p:spPr>
          <a:xfrm>
            <a:off x="4000000" y="5260000"/>
            <a:ext cx="12900000" cy="12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Fastest in the worst case</a:t>
            </a:r>
          </a:p>
          <a:p>
            <a:pPr algn="l">
              <a:lnSpc>
                <a:spcPts val="28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Takes 10.4 ms on the same input, because it never re-reads text.</a:t>
            </a:r>
          </a:p>
        </p:txBody>
      </p:sp>
      <p:sp>
        <p:nvSpPr>
          <p:cNvPr id="183" name="Case card 183"/>
          <p:cNvSpPr/>
          <p:nvPr/>
        </p:nvSpPr>
        <p:spPr>
          <a:xfrm>
            <a:off x="1200000" y="6720000"/>
            <a:ext cx="15888000" cy="140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152400" dist="50800" dir="5400000" algn="t" rotWithShape="0">
              <a:srgbClr val="0C3571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4" name="Case year 184"/>
          <p:cNvSpPr/>
          <p:nvPr/>
        </p:nvSpPr>
        <p:spPr>
          <a:xfrm>
            <a:off x="1400000" y="6870000"/>
            <a:ext cx="2300000" cy="1100000"/>
          </a:xfrm>
          <a:prstGeom prst="roundRect">
            <a:avLst>
              <a:gd name="adj" fmla="val 14000"/>
            </a:avLst>
          </a:prstGeom>
          <a:solidFill>
            <a:srgbClr val="0C357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RABIN</a:t>
            </a:r>
          </a:p>
        </p:txBody>
      </p:sp>
      <p:sp>
        <p:nvSpPr>
          <p:cNvPr id="185" name="Case text 185"/>
          <p:cNvSpPr txBox="1"/>
          <p:nvPr/>
        </p:nvSpPr>
        <p:spPr>
          <a:xfrm>
            <a:off x="4000000" y="6820000"/>
            <a:ext cx="12900000" cy="12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Fewest comparisons</a:t>
            </a:r>
          </a:p>
          <a:p>
            <a:pPr algn="l">
              <a:lnSpc>
                <a:spcPts val="28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Only 334 character checks on the sample, but hashing adds time in Python.</a:t>
            </a:r>
          </a:p>
        </p:txBody>
      </p:sp>
      <p:sp>
        <p:nvSpPr>
          <p:cNvPr id="186" name="Case card 186"/>
          <p:cNvSpPr/>
          <p:nvPr/>
        </p:nvSpPr>
        <p:spPr>
          <a:xfrm>
            <a:off x="1200000" y="8280000"/>
            <a:ext cx="15888000" cy="140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152400" dist="50800" dir="5400000" algn="t" rotWithShape="0">
              <a:srgbClr val="0C3571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7" name="Case year 187"/>
          <p:cNvSpPr/>
          <p:nvPr/>
        </p:nvSpPr>
        <p:spPr>
          <a:xfrm>
            <a:off x="1400000" y="8430000"/>
            <a:ext cx="2300000" cy="1100000"/>
          </a:xfrm>
          <a:prstGeom prst="roundRect">
            <a:avLst>
              <a:gd name="adj" fmla="val 14000"/>
            </a:avLst>
          </a:prstGeom>
          <a:solidFill>
            <a:srgbClr val="0C357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RANDOM</a:t>
            </a:r>
          </a:p>
        </p:txBody>
      </p:sp>
      <p:sp>
        <p:nvSpPr>
          <p:cNvPr id="188" name="Case text 188"/>
          <p:cNvSpPr txBox="1"/>
          <p:nvPr/>
        </p:nvSpPr>
        <p:spPr>
          <a:xfrm>
            <a:off x="4000000" y="8380000"/>
            <a:ext cx="12900000" cy="12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All three are close</a:t>
            </a:r>
          </a:p>
          <a:p>
            <a:pPr algn="l">
              <a:lnSpc>
                <a:spcPts val="28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On random text Naive and KMP stay close; Rabin-Karp is slower due to hashing.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59995" y="0"/>
            <a:ext cx="1728005" cy="1938698"/>
          </a:xfrm>
          <a:custGeom>
            <a:avLst/>
            <a:gdLst/>
            <a:ahLst/>
            <a:cxnLst/>
            <a:rect l="l" t="t" r="r" b="b"/>
            <a:pathLst>
              <a:path w="1728005" h="1938698">
                <a:moveTo>
                  <a:pt x="0" y="0"/>
                </a:moveTo>
                <a:lnTo>
                  <a:pt x="1728005" y="0"/>
                </a:lnTo>
                <a:lnTo>
                  <a:pt x="1728005" y="1938698"/>
                </a:lnTo>
                <a:lnTo>
                  <a:pt x="0" y="19386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033" t="-790" r="-1277" b="-88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748" y="10312"/>
            <a:ext cx="1874725" cy="2057369"/>
          </a:xfrm>
          <a:custGeom>
            <a:avLst/>
            <a:gdLst/>
            <a:ahLst/>
            <a:cxnLst/>
            <a:rect l="l" t="t" r="r" b="b"/>
            <a:pathLst>
              <a:path w="1874725" h="2057369">
                <a:moveTo>
                  <a:pt x="0" y="0"/>
                </a:moveTo>
                <a:lnTo>
                  <a:pt x="1874725" y="0"/>
                </a:lnTo>
                <a:lnTo>
                  <a:pt x="1874725" y="2057368"/>
                </a:lnTo>
                <a:lnTo>
                  <a:pt x="0" y="20573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360" r="-936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44732" y="60579"/>
            <a:ext cx="13342205" cy="70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9"/>
              </a:lnSpc>
              <a:spcBef>
                <a:spcPct val="0"/>
              </a:spcBef>
            </a:pPr>
            <a:r>
              <a:rPr lang="en-US" sz="4178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A D PATEL INSTITUTE OF TECHNOLOGY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70820" y="627848"/>
            <a:ext cx="8821380" cy="839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CHARUTAR VIDHYAMANDAL UNIVERSITY</a:t>
            </a:r>
          </a:p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DEPT. OF INFORMATION TECHNOLOGY ENG. A.Y.:2025-26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75926" y="1428929"/>
            <a:ext cx="9360818" cy="399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 and Analysis of Algorithms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8727" y="2048630"/>
            <a:ext cx="18713677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-1470591" y="7416499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9" name="Title 189"/>
          <p:cNvSpPr txBox="1"/>
          <p:nvPr/>
        </p:nvSpPr>
        <p:spPr>
          <a:xfrm>
            <a:off x="900000" y="2330000"/>
            <a:ext cx="16488000" cy="10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u="sng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FUTURE SCOPE</a:t>
            </a:r>
          </a:p>
        </p:txBody>
      </p:sp>
      <p:sp>
        <p:nvSpPr>
          <p:cNvPr id="190" name="Body 190"/>
          <p:cNvSpPr txBox="1"/>
          <p:nvPr/>
        </p:nvSpPr>
        <p:spPr>
          <a:xfrm>
            <a:off x="1500000" y="3800000"/>
            <a:ext cx="15300000" cy="5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520000" indent="-520000" algn="l">
              <a:lnSpc>
                <a:spcPts val="4400"/>
              </a:lnSpc>
              <a:spcBef>
                <a:spcPts val="0"/>
              </a:spcBef>
              <a:spcAft>
                <a:spcPts val="18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Detect paraphrased text using edit distance or Longest Common Subsequence.</a:t>
            </a:r>
          </a:p>
          <a:p>
            <a:pPr marL="520000" indent="-520000" algn="l">
              <a:lnSpc>
                <a:spcPts val="4400"/>
              </a:lnSpc>
              <a:spcBef>
                <a:spcPts val="0"/>
              </a:spcBef>
              <a:spcAft>
                <a:spcPts val="18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Use sliding word windows instead of fixed chunks to catch shifted copies.</a:t>
            </a:r>
          </a:p>
          <a:p>
            <a:pPr marL="520000" indent="-520000" algn="l">
              <a:lnSpc>
                <a:spcPts val="4400"/>
              </a:lnSpc>
              <a:spcBef>
                <a:spcPts val="0"/>
              </a:spcBef>
              <a:spcAft>
                <a:spcPts val="18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Use multi-pattern search such as Aho-Corasick to check many sources at once.</a:t>
            </a:r>
          </a:p>
          <a:p>
            <a:pPr marL="520000" indent="-520000" algn="l">
              <a:lnSpc>
                <a:spcPts val="4400"/>
              </a:lnSpc>
              <a:spcBef>
                <a:spcPts val="0"/>
              </a:spcBef>
              <a:spcAft>
                <a:spcPts val="18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Support PDF and Word files and highlight the matched text in the output.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59995" y="0"/>
            <a:ext cx="1728005" cy="1938698"/>
          </a:xfrm>
          <a:custGeom>
            <a:avLst/>
            <a:gdLst/>
            <a:ahLst/>
            <a:cxnLst/>
            <a:rect l="l" t="t" r="r" b="b"/>
            <a:pathLst>
              <a:path w="1728005" h="1938698">
                <a:moveTo>
                  <a:pt x="0" y="0"/>
                </a:moveTo>
                <a:lnTo>
                  <a:pt x="1728005" y="0"/>
                </a:lnTo>
                <a:lnTo>
                  <a:pt x="1728005" y="1938698"/>
                </a:lnTo>
                <a:lnTo>
                  <a:pt x="0" y="19386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033" t="-790" r="-1277" b="-88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748" y="10312"/>
            <a:ext cx="1874725" cy="2057369"/>
          </a:xfrm>
          <a:custGeom>
            <a:avLst/>
            <a:gdLst/>
            <a:ahLst/>
            <a:cxnLst/>
            <a:rect l="l" t="t" r="r" b="b"/>
            <a:pathLst>
              <a:path w="1874725" h="2057369">
                <a:moveTo>
                  <a:pt x="0" y="0"/>
                </a:moveTo>
                <a:lnTo>
                  <a:pt x="1874725" y="0"/>
                </a:lnTo>
                <a:lnTo>
                  <a:pt x="1874725" y="2057368"/>
                </a:lnTo>
                <a:lnTo>
                  <a:pt x="0" y="20573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360" r="-936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44732" y="60579"/>
            <a:ext cx="13342205" cy="70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9"/>
              </a:lnSpc>
              <a:spcBef>
                <a:spcPct val="0"/>
              </a:spcBef>
            </a:pPr>
            <a:r>
              <a:rPr lang="en-US" sz="4178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A D PATEL INSTITUTE OF TECHNOLOGY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70820" y="627848"/>
            <a:ext cx="8821380" cy="839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CHARUTAR VIDHYAMANDAL UNIVERSITY</a:t>
            </a:r>
          </a:p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DEPT. OF INFORMATION TECHNOLOGY ENG. A.Y.:2025-26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75926" y="1428929"/>
            <a:ext cx="9360818" cy="399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 and Analysis of Algorithms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8727" y="2048630"/>
            <a:ext cx="18713677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-1470591" y="7416499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9" name="Title 189"/>
          <p:cNvSpPr txBox="1"/>
          <p:nvPr/>
        </p:nvSpPr>
        <p:spPr>
          <a:xfrm>
            <a:off x="900000" y="2330000"/>
            <a:ext cx="16488000" cy="10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u="sng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CONCLUSION</a:t>
            </a:r>
          </a:p>
        </p:txBody>
      </p:sp>
      <p:sp>
        <p:nvSpPr>
          <p:cNvPr id="190" name="Body 190"/>
          <p:cNvSpPr txBox="1"/>
          <p:nvPr/>
        </p:nvSpPr>
        <p:spPr>
          <a:xfrm>
            <a:off x="1500000" y="3800000"/>
            <a:ext cx="15300000" cy="5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520000" indent="-520000" algn="l">
              <a:lnSpc>
                <a:spcPts val="4400"/>
              </a:lnSpc>
              <a:spcBef>
                <a:spcPts val="0"/>
              </a:spcBef>
              <a:spcAft>
                <a:spcPts val="18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The project detects copied text and reports a similarity percentage and a verdict.</a:t>
            </a:r>
          </a:p>
          <a:p>
            <a:pPr marL="520000" indent="-520000" algn="l">
              <a:lnSpc>
                <a:spcPts val="4400"/>
              </a:lnSpc>
              <a:spcBef>
                <a:spcPts val="0"/>
              </a:spcBef>
              <a:spcAft>
                <a:spcPts val="18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All three algorithms give the same similarity (78.6% on the high sample), so their results agree.</a:t>
            </a:r>
          </a:p>
          <a:p>
            <a:pPr marL="520000" indent="-520000" algn="l">
              <a:lnSpc>
                <a:spcPts val="4400"/>
              </a:lnSpc>
              <a:spcBef>
                <a:spcPts val="0"/>
              </a:spcBef>
              <a:spcAft>
                <a:spcPts val="18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KMP is the safest choice in the worst case, while Rabin-Karp makes the fewest comparisons.</a:t>
            </a:r>
          </a:p>
          <a:p>
            <a:pPr marL="520000" indent="-520000" algn="l">
              <a:lnSpc>
                <a:spcPts val="4400"/>
              </a:lnSpc>
              <a:spcBef>
                <a:spcPts val="0"/>
              </a:spcBef>
              <a:spcAft>
                <a:spcPts val="1800"/>
              </a:spcAft>
              <a:buClr>
                <a:srgbClr val="0C3571"/>
              </a:buClr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Algorithm choice matters more as the input grows, which shows why DAA analysis is useful.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59995" y="0"/>
            <a:ext cx="1728005" cy="1938698"/>
          </a:xfrm>
          <a:custGeom>
            <a:avLst/>
            <a:gdLst/>
            <a:ahLst/>
            <a:cxnLst/>
            <a:rect l="l" t="t" r="r" b="b"/>
            <a:pathLst>
              <a:path w="1728005" h="1938698">
                <a:moveTo>
                  <a:pt x="0" y="0"/>
                </a:moveTo>
                <a:lnTo>
                  <a:pt x="1728005" y="0"/>
                </a:lnTo>
                <a:lnTo>
                  <a:pt x="1728005" y="1938698"/>
                </a:lnTo>
                <a:lnTo>
                  <a:pt x="0" y="19386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033" t="-790" r="-1277" b="-88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748" y="10312"/>
            <a:ext cx="1874725" cy="2057369"/>
          </a:xfrm>
          <a:custGeom>
            <a:avLst/>
            <a:gdLst/>
            <a:ahLst/>
            <a:cxnLst/>
            <a:rect l="l" t="t" r="r" b="b"/>
            <a:pathLst>
              <a:path w="1874725" h="2057369">
                <a:moveTo>
                  <a:pt x="0" y="0"/>
                </a:moveTo>
                <a:lnTo>
                  <a:pt x="1874725" y="0"/>
                </a:lnTo>
                <a:lnTo>
                  <a:pt x="1874725" y="2057368"/>
                </a:lnTo>
                <a:lnTo>
                  <a:pt x="0" y="20573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360" r="-936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44732" y="60579"/>
            <a:ext cx="13342205" cy="70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9"/>
              </a:lnSpc>
              <a:spcBef>
                <a:spcPct val="0"/>
              </a:spcBef>
            </a:pPr>
            <a:r>
              <a:rPr lang="en-US" sz="4178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A D PATEL INSTITUTE OF TECHNOLOGY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70820" y="627848"/>
            <a:ext cx="8963812" cy="839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CHARUTAR VIDHYAMANDAL UNIVERSITY</a:t>
            </a:r>
          </a:p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DEPT. OF INFORMATION TECHNOLOGY ENG. A.Y.:2025-26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75926" y="1428929"/>
            <a:ext cx="9360818" cy="399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 and Analysis of Algorithms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8727" y="2048630"/>
            <a:ext cx="18713677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-1470591" y="7416499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1" name="Title 191"/>
          <p:cNvSpPr txBox="1"/>
          <p:nvPr/>
        </p:nvSpPr>
        <p:spPr>
          <a:xfrm>
            <a:off x="900000" y="2330000"/>
            <a:ext cx="16488000" cy="10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u="sng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REFERENCES</a:t>
            </a:r>
          </a:p>
        </p:txBody>
      </p:sp>
      <p:sp>
        <p:nvSpPr>
          <p:cNvPr id="192" name="Refs 192"/>
          <p:cNvSpPr txBox="1"/>
          <p:nvPr/>
        </p:nvSpPr>
        <p:spPr>
          <a:xfrm>
            <a:off x="2300000" y="3625841"/>
            <a:ext cx="13700000" cy="597415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4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1. Cormen, Leiserson, Rivest, Stein: Introduction to Algorithms (CLRS)</a:t>
            </a:r>
          </a:p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F6FB2"/>
                </a:solidFill>
                <a:latin typeface="Anantason"/>
                <a:ea typeface="Anantason"/>
                <a:cs typeface="Anantason"/>
                <a:sym typeface="Anantason"/>
              </a:rPr>
              <a:t>Chapter 32: String Matching</a:t>
            </a:r>
          </a:p>
          <a:p>
            <a:pPr algn="l">
              <a:lnSpc>
                <a:spcPts val="34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2. GeeksforGeeks: KMP algorithm for pattern searching</a:t>
            </a:r>
          </a:p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F6FB2"/>
                </a:solidFill>
                <a:latin typeface="Anantason"/>
                <a:ea typeface="Anantason"/>
                <a:cs typeface="Anantason"/>
                <a:sym typeface="Anantason"/>
              </a:rPr>
              <a:t>https://www.geeksforgeeks.org/kmp-algorithm-for-pattern-searching/</a:t>
            </a:r>
          </a:p>
          <a:p>
            <a:pPr algn="l">
              <a:lnSpc>
                <a:spcPts val="34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3. GeeksforGeeks: Rabin-Karp algorithm for pattern searching</a:t>
            </a:r>
          </a:p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F6FB2"/>
                </a:solidFill>
                <a:latin typeface="Anantason"/>
                <a:ea typeface="Anantason"/>
                <a:cs typeface="Anantason"/>
                <a:sym typeface="Anantason"/>
              </a:rPr>
              <a:t>https://www.geeksforgeeks.org/rabin-karp-algorithm-for-pattern-searching/</a:t>
            </a:r>
          </a:p>
          <a:p>
            <a:pPr algn="l">
              <a:lnSpc>
                <a:spcPts val="34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4. Python Documentation: re, regular expression operations</a:t>
            </a:r>
          </a:p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F6FB2"/>
                </a:solidFill>
                <a:latin typeface="Anantason"/>
                <a:ea typeface="Anantason"/>
                <a:cs typeface="Anantason"/>
                <a:sym typeface="Anantason"/>
              </a:rPr>
              <a:t>https://docs.python.org/3/library/re.html</a:t>
            </a:r>
          </a:p>
          <a:p>
            <a:pPr algn="l">
              <a:lnSpc>
                <a:spcPts val="34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5. Python Documentation: time, time access and conversions</a:t>
            </a:r>
          </a:p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F6FB2"/>
                </a:solidFill>
                <a:latin typeface="Anantason"/>
                <a:ea typeface="Anantason"/>
                <a:cs typeface="Anantason"/>
                <a:sym typeface="Anantason"/>
              </a:rPr>
              <a:t>https://docs.python.org/3/library/time.html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59995" y="0"/>
            <a:ext cx="1728005" cy="1938698"/>
          </a:xfrm>
          <a:custGeom>
            <a:avLst/>
            <a:gdLst/>
            <a:ahLst/>
            <a:cxnLst/>
            <a:rect l="l" t="t" r="r" b="b"/>
            <a:pathLst>
              <a:path w="1728005" h="1938698">
                <a:moveTo>
                  <a:pt x="0" y="0"/>
                </a:moveTo>
                <a:lnTo>
                  <a:pt x="1728005" y="0"/>
                </a:lnTo>
                <a:lnTo>
                  <a:pt x="1728005" y="1938698"/>
                </a:lnTo>
                <a:lnTo>
                  <a:pt x="0" y="19386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033" t="-790" r="-1277" b="-88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748" y="10312"/>
            <a:ext cx="1874725" cy="2057369"/>
          </a:xfrm>
          <a:custGeom>
            <a:avLst/>
            <a:gdLst/>
            <a:ahLst/>
            <a:cxnLst/>
            <a:rect l="l" t="t" r="r" b="b"/>
            <a:pathLst>
              <a:path w="1874725" h="2057369">
                <a:moveTo>
                  <a:pt x="0" y="0"/>
                </a:moveTo>
                <a:lnTo>
                  <a:pt x="1874725" y="0"/>
                </a:lnTo>
                <a:lnTo>
                  <a:pt x="1874725" y="2057368"/>
                </a:lnTo>
                <a:lnTo>
                  <a:pt x="0" y="20573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360" r="-936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44732" y="60579"/>
            <a:ext cx="13342205" cy="70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9"/>
              </a:lnSpc>
              <a:spcBef>
                <a:spcPct val="0"/>
              </a:spcBef>
            </a:pPr>
            <a:r>
              <a:rPr lang="en-US" sz="4178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A D PATEL INSTITUTE OF TECHNOLOGY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70820" y="627848"/>
            <a:ext cx="8821380" cy="839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CHARUTAR VIDHYAMANDAL UNIVERSITY</a:t>
            </a:r>
          </a:p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sz="24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DEPT. OF INFORMATION TECHNOLOGY ENG. A.Y.:2025-26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75926" y="1428929"/>
            <a:ext cx="9360818" cy="399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 and Analysis of Algorithms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8727" y="2048630"/>
            <a:ext cx="18713677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-1470591" y="7416499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3" name="Thanks 193"/>
          <p:cNvSpPr txBox="1"/>
          <p:nvPr/>
        </p:nvSpPr>
        <p:spPr>
          <a:xfrm>
            <a:off x="900000" y="4300000"/>
            <a:ext cx="16488000" cy="17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THANK YOU !</a:t>
            </a:r>
          </a:p>
        </p:txBody>
      </p:sp>
      <p:sp>
        <p:nvSpPr>
          <p:cNvPr id="194" name="Sub 194"/>
          <p:cNvSpPr txBox="1"/>
          <p:nvPr/>
        </p:nvSpPr>
        <p:spPr>
          <a:xfrm>
            <a:off x="900000" y="6300000"/>
            <a:ext cx="16488000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i="1">
                <a:solidFill>
                  <a:srgbClr val="000000"/>
                </a:solidFill>
                <a:latin typeface="Anantason"/>
                <a:ea typeface="Anantason"/>
                <a:cs typeface="Anantason"/>
                <a:sym typeface="Anantason"/>
              </a:rP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1470</Words>
  <Application>Microsoft Office PowerPoint</Application>
  <PresentationFormat>Custom</PresentationFormat>
  <Paragraphs>230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Anantason Bold</vt:lpstr>
      <vt:lpstr>Anantason</vt:lpstr>
      <vt:lpstr>Canva Sans</vt:lpstr>
      <vt:lpstr>Arial</vt:lpstr>
      <vt:lpstr>Calibri</vt:lpstr>
      <vt:lpstr>Canva Sans Bold</vt:lpstr>
      <vt:lpstr>Cloud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</dc:title>
  <dc:creator>HET PATEL</dc:creator>
  <cp:lastModifiedBy>HET PATEL</cp:lastModifiedBy>
  <cp:revision>2</cp:revision>
  <dcterms:created xsi:type="dcterms:W3CDTF">2006-08-16T00:00:00Z</dcterms:created>
  <dcterms:modified xsi:type="dcterms:W3CDTF">2026-10-21T19:31:08Z</dcterms:modified>
  <dc:identifier>DAHFY_8wPjo</dc:identifier>
</cp:coreProperties>
</file>